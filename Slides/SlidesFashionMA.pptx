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B793B0-B7EB-B548-B28B-42E1B265B486}" v="56" dt="2025-10-25T15:26:03.0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09"/>
  </p:normalViewPr>
  <p:slideViewPr>
    <p:cSldViewPr snapToGrid="0">
      <p:cViewPr>
        <p:scale>
          <a:sx n="91" d="100"/>
          <a:sy n="91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61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7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936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6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8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0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49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5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57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8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220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86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A collage of different clothing items&#10;&#10;AI-generated content may be incorrect.">
            <a:extLst>
              <a:ext uri="{FF2B5EF4-FFF2-40B4-BE49-F238E27FC236}">
                <a16:creationId xmlns:a16="http://schemas.microsoft.com/office/drawing/2014/main" id="{6F26491E-7CF7-5250-A0D9-BDDD6366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875" b="21875"/>
          <a:stretch/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D5602-7C81-3DC5-C124-190FBE20FC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127" y="414530"/>
            <a:ext cx="5370950" cy="364030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7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 </a:t>
            </a:r>
            <a:r>
              <a:rPr lang="en-US" sz="4700" b="1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d’images</a:t>
            </a:r>
            <a:r>
              <a:rPr lang="en-US" sz="4700" b="1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Fashion-MNIST avec un CNN </a:t>
            </a:r>
            <a:r>
              <a:rPr lang="en-US" sz="4700" b="1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br>
              <a:rPr lang="en-US" sz="4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7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65681-32D8-625B-28EA-D0ED4D33D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Étude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d’une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méthode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traitement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d’image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l’état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l’art</a:t>
            </a: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A04AF2-24AD-55D6-5E45-F61327894052}"/>
              </a:ext>
            </a:extLst>
          </p:cNvPr>
          <p:cNvSpPr txBox="1"/>
          <p:nvPr/>
        </p:nvSpPr>
        <p:spPr>
          <a:xfrm>
            <a:off x="8403219" y="5376044"/>
            <a:ext cx="364988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Mohammad Abdelazim 21203988</a:t>
            </a:r>
          </a:p>
          <a:p>
            <a:pPr>
              <a:spcAft>
                <a:spcPts val="600"/>
              </a:spcAft>
            </a:pPr>
            <a:r>
              <a:rPr lang="en-FR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Adham Hamdy 21214342</a:t>
            </a:r>
          </a:p>
        </p:txBody>
      </p:sp>
    </p:spTree>
    <p:extLst>
      <p:ext uri="{BB962C8B-B14F-4D97-AF65-F5344CB8AC3E}">
        <p14:creationId xmlns:p14="http://schemas.microsoft.com/office/powerpoint/2010/main" val="8690597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69F1F-5D7A-0DDA-0106-D512BC54B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objectifs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7412-F676-1DB5-9AD5-CBB2B070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378828"/>
            <a:ext cx="10890928" cy="3566160"/>
          </a:xfrm>
        </p:spPr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But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classer des images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vêtements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(28×28,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niveaux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gris) issues du dataset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Fashion-MNIST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Enjeu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obtenir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bonne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précision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avec un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rapide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entraîner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Méthode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étude 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implémentation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d’une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méthode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traitement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d’image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l’état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l’art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(réseau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convolutionnel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Évaluation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Macro-F1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et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matrice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confusion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Livrables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code Python,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résultats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chiffrés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présentation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finale.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89531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219D3-D608-61A8-641F-979CD5C8C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29" y="0"/>
            <a:ext cx="13955150" cy="1420837"/>
          </a:xfrm>
        </p:spPr>
        <p:txBody>
          <a:bodyPr>
            <a:normAutofit/>
          </a:bodyPr>
          <a:lstStyle/>
          <a:p>
            <a:r>
              <a:rPr lang="en-US" sz="3200" b="0" i="1" dirty="0">
                <a:latin typeface="Arial" panose="020B0604020202020204" pitchFamily="34" charset="0"/>
                <a:cs typeface="Arial" panose="020B0604020202020204" pitchFamily="34" charset="0"/>
              </a:rPr>
              <a:t>Revue des </a:t>
            </a:r>
            <a:r>
              <a:rPr lang="en-US" sz="32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sz="3200" b="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méthodes</a:t>
            </a:r>
            <a:r>
              <a:rPr lang="en-US" sz="3200" b="0" i="1" dirty="0">
                <a:latin typeface="Arial" panose="020B0604020202020204" pitchFamily="34" charset="0"/>
                <a:cs typeface="Arial" panose="020B0604020202020204" pitchFamily="34" charset="0"/>
              </a:rPr>
              <a:t> de classification</a:t>
            </a:r>
            <a:br>
              <a:rPr lang="en-US" sz="3200" b="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0" i="1" dirty="0" err="1">
                <a:latin typeface="Arial" panose="020B0604020202020204" pitchFamily="34" charset="0"/>
                <a:cs typeface="Arial" panose="020B0604020202020204" pitchFamily="34" charset="0"/>
              </a:rPr>
              <a:t>d’images</a:t>
            </a:r>
            <a:endParaRPr lang="en-F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4E5F8-9846-7D6F-3239-7393B1784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76" y="1266093"/>
            <a:ext cx="5591907" cy="531758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Plusieurs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approches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modernes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utilisées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pour la reconnaissance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d’images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Voici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les cinq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étudiées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dans le cadre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projet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CNN (réseaux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convolutionnels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extraient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automatiquement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les motifs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spatiaux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partir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des images (LeCun et al., 1998).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– architecture profonde avec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skip connections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pour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éviter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disparition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 gradient (He et al., 2016).</a:t>
            </a:r>
          </a:p>
          <a:p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(Vision Transformer)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approche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par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self-attention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traitant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l’image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comme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suite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patchs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Dosovitskiy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al., 2020).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Augmentation de données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– rotations, translations et zooms pour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accroître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robustesse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Label Smoothing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– technique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régularisation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réduisant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 sur-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confiance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 réseau.</a:t>
            </a:r>
          </a:p>
          <a:p>
            <a:pPr marL="0" indent="0">
              <a:buNone/>
            </a:pPr>
            <a:endParaRPr lang="en-FR" dirty="0"/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670E419E-956A-1941-00C3-FDC91D22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745" y="2913140"/>
            <a:ext cx="2929989" cy="1623147"/>
          </a:xfrm>
          <a:prstGeom prst="rect">
            <a:avLst/>
          </a:prstGeom>
        </p:spPr>
      </p:pic>
      <p:pic>
        <p:nvPicPr>
          <p:cNvPr id="7" name="Picture 6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E0377D5B-452F-418E-79B8-50CBFDB8E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517" y="2988548"/>
            <a:ext cx="2574388" cy="1690982"/>
          </a:xfrm>
          <a:prstGeom prst="rect">
            <a:avLst/>
          </a:prstGeom>
        </p:spPr>
      </p:pic>
      <p:pic>
        <p:nvPicPr>
          <p:cNvPr id="9" name="Picture 8" descr="A diagram of smoothing and smoothing&#10;&#10;AI-generated content may be incorrect.">
            <a:extLst>
              <a:ext uri="{FF2B5EF4-FFF2-40B4-BE49-F238E27FC236}">
                <a16:creationId xmlns:a16="http://schemas.microsoft.com/office/drawing/2014/main" id="{AC5FF8B2-19F3-09C4-9A2B-201288AD0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398" y="5102882"/>
            <a:ext cx="3569026" cy="1623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1D0379-B458-A979-1201-E73F98001C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483" y="4884232"/>
            <a:ext cx="2372067" cy="1833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78E432-6EB4-E939-456F-04797F4946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2720" y="1006695"/>
            <a:ext cx="3092028" cy="162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955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C791-6C4E-84B7-7E9A-265526E2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73620"/>
            <a:ext cx="10890929" cy="2295261"/>
          </a:xfrm>
        </p:spPr>
        <p:txBody>
          <a:bodyPr/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Méthode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proposée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– Architecture CNN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légère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56E0-2632-5654-8547-98C362EB9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494" y="1358751"/>
            <a:ext cx="12526431" cy="564404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Nous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proposons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un 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réseau de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neurones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convolutionnel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compact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 pour la classification des images Fashion-MNIST (10 classes, 28×28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niveaux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de gris).</a:t>
            </a:r>
          </a:p>
          <a:p>
            <a:pPr marL="0" indent="0">
              <a:buNone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Architecture :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Entrée :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 1×28×28</a:t>
            </a:r>
          </a:p>
          <a:p>
            <a:pPr marL="0" indent="0">
              <a:buNone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Extraction de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caractéristiques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Conv(1→32, 3×3) +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Conv(32→32, 3×3) +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MaxPool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(2×2)</a:t>
            </a: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Conv(32→64, 3×3) +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Conv(64→64, 3×3) +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MaxPool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(2×2)</a:t>
            </a:r>
          </a:p>
          <a:p>
            <a:pPr marL="0" indent="0">
              <a:buNone/>
            </a:pP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Classification :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Flatten → Dropout(0.25)</a:t>
            </a: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FC(3136→128) →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ReLU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→ Dropout(0.25)</a:t>
            </a:r>
          </a:p>
          <a:p>
            <a:pPr lvl="1"/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FC(128→10) →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Paramètres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2900" b="1" dirty="0" err="1"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  <a:r>
              <a:rPr lang="en-US" sz="29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Optimiseur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: Adam (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lr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= 1e-3), 12 époques, batch = 128</a:t>
            </a:r>
          </a:p>
          <a:p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Fonction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perte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: Cross-Entropy (+ Label Smoothing 0.05)</a:t>
            </a:r>
          </a:p>
          <a:p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Scheduler :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CosineAnnealingLR</a:t>
            </a:r>
            <a:endParaRPr lang="en-US" sz="2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≈ 0.47 M </a:t>
            </a:r>
            <a:r>
              <a:rPr lang="en-US" sz="2900" dirty="0" err="1">
                <a:latin typeface="Arial" panose="020B0604020202020204" pitchFamily="34" charset="0"/>
                <a:cs typeface="Arial" panose="020B0604020202020204" pitchFamily="34" charset="0"/>
              </a:rPr>
              <a:t>paramètres</a:t>
            </a:r>
            <a:r>
              <a:rPr lang="en-US" sz="2900" dirty="0">
                <a:latin typeface="Arial" panose="020B0604020202020204" pitchFamily="34" charset="0"/>
                <a:cs typeface="Arial" panose="020B0604020202020204" pitchFamily="34" charset="0"/>
              </a:rPr>
              <a:t> (467 818)</a:t>
            </a:r>
            <a:endParaRPr lang="en-FR" sz="2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4048088B-E299-CB5A-BE28-0492F9DF4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808" y="1666174"/>
            <a:ext cx="56642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60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96C2E-9D87-2B35-F0CD-32924E55E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62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Implémentation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préparation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du jeu de données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F4A9-F79D-4C9C-CBE5-C33A36EBE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46" y="1207008"/>
            <a:ext cx="11368962" cy="499262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Dataset : Fashion-MNIST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70 000 images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niveaux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de gris (28×28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10 classes : </a:t>
            </a: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T-shirt/top, </a:t>
            </a:r>
            <a:r>
              <a:rPr lang="en-US" sz="4000" i="1" dirty="0" err="1">
                <a:latin typeface="Arial" panose="020B0604020202020204" pitchFamily="34" charset="0"/>
                <a:cs typeface="Arial" panose="020B0604020202020204" pitchFamily="34" charset="0"/>
              </a:rPr>
              <a:t>Pantalon</a:t>
            </a:r>
            <a:r>
              <a:rPr lang="en-US" sz="4000" i="1" dirty="0">
                <a:latin typeface="Arial" panose="020B0604020202020204" pitchFamily="34" charset="0"/>
                <a:cs typeface="Arial" panose="020B0604020202020204" pitchFamily="34" charset="0"/>
              </a:rPr>
              <a:t>, Pull, Robe, Manteau, Sandale, Chemise, Basket, Sac, Bottine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Répartition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: 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60 000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/ 10 000 test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Pré-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traitements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Conversion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tenseur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normalisation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: (0.5, 0.5)</a:t>
            </a:r>
          </a:p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Augmentation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 : rotations ±10°, translations ±2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px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Batch = 128</a:t>
            </a:r>
          </a:p>
          <a:p>
            <a:pPr marL="0" indent="0"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Environnement :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Framework :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Torchvision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/ scikit-learn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Matériel : CPU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puce Apple MPS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Scripts :</a:t>
            </a:r>
          </a:p>
          <a:p>
            <a:pPr lvl="1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code/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cnn_baseline.py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 →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entraînement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code/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inference.py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 →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prédictions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results/ →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métriques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et figures</a:t>
            </a:r>
          </a:p>
          <a:p>
            <a:pPr marL="0" indent="0">
              <a:buNone/>
            </a:pP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Paramètres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d’entraînement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Optimiseur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: Adam (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lr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1e-3)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Scheduler : 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CosineAnnealingLR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Tmax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= 12)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Perte : Cross-Entropy (+ Label Smoothing 0.05)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Époques : 12</a:t>
            </a:r>
          </a:p>
          <a:p>
            <a:endParaRPr lang="en-FR" dirty="0"/>
          </a:p>
        </p:txBody>
      </p:sp>
      <p:pic>
        <p:nvPicPr>
          <p:cNvPr id="5" name="Picture 4" descr="A collage of different clothing items&#10;&#10;AI-generated content may be incorrect.">
            <a:extLst>
              <a:ext uri="{FF2B5EF4-FFF2-40B4-BE49-F238E27FC236}">
                <a16:creationId xmlns:a16="http://schemas.microsoft.com/office/drawing/2014/main" id="{CAFCF4C0-3864-AC26-080C-1EBDD7523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366" y="1043828"/>
            <a:ext cx="5544072" cy="55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08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FD131-908D-42BB-1532-9DDC6031B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78365"/>
            <a:ext cx="10847494" cy="19071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Résultats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évaluation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des performances</a:t>
            </a:r>
            <a:endParaRPr lang="en-US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76AA682-4575-30BF-CEC1-65DC08C54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944" y="1499933"/>
            <a:ext cx="1581736" cy="5855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eaLnBrk="1" fontAlgn="base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tabLst/>
            </a:pPr>
            <a:r>
              <a:rPr kumimoji="0" lang="en-US" altLang="en-FR" b="1" i="0" u="none" strike="noStrike" cap="none" normalizeH="0" baseline="0" dirty="0">
                <a:ln>
                  <a:noFill/>
                </a:ln>
                <a:effectLst/>
                <a:latin typeface="+mn-lt"/>
              </a:rPr>
              <a:t>Tableau :</a:t>
            </a:r>
            <a:endParaRPr kumimoji="0" lang="en-US" altLang="en-FR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  <a:p>
            <a:pPr marL="0" marR="0" lvl="0" indent="0" eaLnBrk="1" fontAlgn="base" hangingPunct="1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endParaRPr kumimoji="0" lang="en-US" altLang="en-FR" b="0" i="0" u="none" strike="noStrike" cap="none" normalizeH="0" baseline="0" dirty="0">
              <a:ln>
                <a:noFill/>
              </a:ln>
              <a:effectLst/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2C5CA6-98E5-C7C6-B166-378F8074D8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257722"/>
              </p:ext>
            </p:extLst>
          </p:nvPr>
        </p:nvGraphicFramePr>
        <p:xfrm>
          <a:off x="327790" y="1615624"/>
          <a:ext cx="5694420" cy="1996191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45098"/>
                  </a:srgbClr>
                </a:solidFill>
              </a:tblPr>
              <a:tblGrid>
                <a:gridCol w="1327162">
                  <a:extLst>
                    <a:ext uri="{9D8B030D-6E8A-4147-A177-3AD203B41FA5}">
                      <a16:colId xmlns:a16="http://schemas.microsoft.com/office/drawing/2014/main" val="1651283012"/>
                    </a:ext>
                  </a:extLst>
                </a:gridCol>
                <a:gridCol w="1111499">
                  <a:extLst>
                    <a:ext uri="{9D8B030D-6E8A-4147-A177-3AD203B41FA5}">
                      <a16:colId xmlns:a16="http://schemas.microsoft.com/office/drawing/2014/main" val="474106891"/>
                    </a:ext>
                  </a:extLst>
                </a:gridCol>
                <a:gridCol w="865025">
                  <a:extLst>
                    <a:ext uri="{9D8B030D-6E8A-4147-A177-3AD203B41FA5}">
                      <a16:colId xmlns:a16="http://schemas.microsoft.com/office/drawing/2014/main" val="2951524179"/>
                    </a:ext>
                  </a:extLst>
                </a:gridCol>
                <a:gridCol w="1078977">
                  <a:extLst>
                    <a:ext uri="{9D8B030D-6E8A-4147-A177-3AD203B41FA5}">
                      <a16:colId xmlns:a16="http://schemas.microsoft.com/office/drawing/2014/main" val="1389941434"/>
                    </a:ext>
                  </a:extLst>
                </a:gridCol>
                <a:gridCol w="1311757">
                  <a:extLst>
                    <a:ext uri="{9D8B030D-6E8A-4147-A177-3AD203B41FA5}">
                      <a16:colId xmlns:a16="http://schemas.microsoft.com/office/drawing/2014/main" val="490329835"/>
                    </a:ext>
                  </a:extLst>
                </a:gridCol>
              </a:tblGrid>
              <a:tr h="642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Expérience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Macro-F1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Époques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Paramètres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280148"/>
                  </a:ext>
                </a:extLst>
              </a:tr>
              <a:tr h="777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Baseline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300" cap="none" spc="0" dirty="0">
                          <a:solidFill>
                            <a:schemeClr val="tx1"/>
                          </a:solidFill>
                        </a:rPr>
                        <a:t>0.9292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300" cap="none" spc="0" dirty="0">
                          <a:solidFill>
                            <a:schemeClr val="tx1"/>
                          </a:solidFill>
                        </a:rPr>
                        <a:t>0.9293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300" cap="none" spc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 M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695140"/>
                  </a:ext>
                </a:extLst>
              </a:tr>
              <a:tr h="5769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cap="none" spc="0" dirty="0">
                          <a:solidFill>
                            <a:schemeClr val="tx1"/>
                          </a:solidFill>
                        </a:rPr>
                        <a:t>+ Aug + LS + Scheduler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0.9219</a:t>
                      </a:r>
                      <a:endParaRPr lang="en-FR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0.9215</a:t>
                      </a:r>
                      <a:endParaRPr lang="en-FR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FR" sz="13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0.47 M</a:t>
                      </a:r>
                      <a:endParaRPr lang="en-US" sz="13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7775" marR="97775" marT="97789" marB="4888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958928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AFBAE4-9E13-E9BC-E1D3-096F3C4F1B3C}"/>
              </a:ext>
            </a:extLst>
          </p:cNvPr>
          <p:cNvSpPr txBox="1"/>
          <p:nvPr/>
        </p:nvSpPr>
        <p:spPr>
          <a:xfrm>
            <a:off x="208164" y="3806806"/>
            <a:ext cx="63325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base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atteint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déjà ~93 %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précision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Label Smoothing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et le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scheduler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cosinus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stabilisent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l’apprentissage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CNN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reste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(~0,47 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paramètres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rapide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sur CPU/MPS.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techniques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régularisation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peuvent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entraîner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légère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baisse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l’accuracy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brute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elles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améliorent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robustesse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et la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généralisation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du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E72118EE-C114-DA46-7586-B347355FF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210" y="1131917"/>
            <a:ext cx="5842000" cy="2963607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E11F8B16-4795-CFD3-A3E2-8AF4B9DFE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210" y="3996632"/>
            <a:ext cx="5961626" cy="275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76D52-D8E2-FADE-E3EC-A20414C0F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832266"/>
            <a:ext cx="10890915" cy="788465"/>
          </a:xfrm>
        </p:spPr>
        <p:txBody>
          <a:bodyPr anchor="b">
            <a:normAutofit/>
          </a:bodyPr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erreurs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matrice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de confusion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ollage of different types of clothing&#10;&#10;AI-generated content may be incorrect.">
            <a:extLst>
              <a:ext uri="{FF2B5EF4-FFF2-40B4-BE49-F238E27FC236}">
                <a16:creationId xmlns:a16="http://schemas.microsoft.com/office/drawing/2014/main" id="{CD047453-D82F-0C2A-F612-15A1A3D985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80" r="11933" b="-9"/>
          <a:stretch>
            <a:fillRect/>
          </a:stretch>
        </p:blipFill>
        <p:spPr>
          <a:xfrm>
            <a:off x="85368" y="2007381"/>
            <a:ext cx="4084649" cy="4765632"/>
          </a:xfrm>
          <a:prstGeom prst="rect">
            <a:avLst/>
          </a:prstGeom>
        </p:spPr>
      </p:pic>
      <p:pic>
        <p:nvPicPr>
          <p:cNvPr id="5" name="Content Placeholder 4" descr="A graph of a number of colored squares&#10;&#10;AI-generated content may be incorrect.">
            <a:extLst>
              <a:ext uri="{FF2B5EF4-FFF2-40B4-BE49-F238E27FC236}">
                <a16:creationId xmlns:a16="http://schemas.microsoft.com/office/drawing/2014/main" id="{B1DAF807-F29A-25CC-DFAD-690D1061F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04" r="22643" b="8"/>
          <a:stretch>
            <a:fillRect/>
          </a:stretch>
        </p:blipFill>
        <p:spPr>
          <a:xfrm>
            <a:off x="4255385" y="2153942"/>
            <a:ext cx="3597106" cy="4765632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E45FFB-BDDD-441E-8A3F-CA05C33E1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962313" y="2092362"/>
            <a:ext cx="0" cy="477267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AE773EB5-7586-12CD-EE2A-D312A5D00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8025" y="2007381"/>
            <a:ext cx="2992981" cy="428350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matrice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confusion montre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bonne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séparation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globale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entre les classes (forte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diagonale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confusions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apparaissent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entre :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T-shirt/top et Chemise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Manteau et Pull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Basket et Bottine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erreurs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s’expliquent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par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similarité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visuelle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proches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textures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similaires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Malgré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cela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conserve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bonne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robustesse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globale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avec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précision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moyenne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≈92 %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46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2A414-08FA-BBAC-F65E-8197D90E4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Démo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Inférence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 sur des images test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 descr="A collage of different clothing items&#10;&#10;AI-generated content may be incorrect.">
            <a:extLst>
              <a:ext uri="{FF2B5EF4-FFF2-40B4-BE49-F238E27FC236}">
                <a16:creationId xmlns:a16="http://schemas.microsoft.com/office/drawing/2014/main" id="{9C0D1314-1E98-0904-50FA-11EEAD363A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100" y="869384"/>
            <a:ext cx="5322192" cy="532219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97716B-D81D-BA06-6809-91326CF34A7B}"/>
              </a:ext>
            </a:extLst>
          </p:cNvPr>
          <p:cNvSpPr txBox="1"/>
          <p:nvPr/>
        </p:nvSpPr>
        <p:spPr>
          <a:xfrm>
            <a:off x="640079" y="6191576"/>
            <a:ext cx="3854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✓ = bonne </a:t>
            </a:r>
            <a:r>
              <a:rPr lang="en-US" dirty="0" err="1"/>
              <a:t>prédiction</a:t>
            </a:r>
            <a:r>
              <a:rPr lang="en-US" dirty="0"/>
              <a:t> ✗ = </a:t>
            </a:r>
            <a:r>
              <a:rPr lang="en-US" dirty="0" err="1"/>
              <a:t>erreur</a:t>
            </a:r>
            <a:endParaRPr lang="en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D31BA-0713-C597-D023-043003CF2DBD}"/>
              </a:ext>
            </a:extLst>
          </p:cNvPr>
          <p:cNvSpPr txBox="1"/>
          <p:nvPr/>
        </p:nvSpPr>
        <p:spPr>
          <a:xfrm>
            <a:off x="6752492" y="1322363"/>
            <a:ext cx="39389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CNN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entraîné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testé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sur des images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inédites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 jeu de test Fashion-MNIST.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majorité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prédictions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sont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correctes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qui montre que 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 bien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appris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à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reconnaître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formes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textures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caractéristiques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erreurs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concernent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surtout des classes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visuellement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proches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T-shirt / Chemise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Manteau / Pull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temps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d’inférence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par image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très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faible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(&lt; 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sur Apple MPS),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confirme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l’efficacité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et la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légèreté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256779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E9BFB-DEF5-2A53-898E-A8A7AE06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9728"/>
            <a:ext cx="10890929" cy="1097280"/>
          </a:xfrm>
        </p:spPr>
        <p:txBody>
          <a:bodyPr/>
          <a:lstStyle/>
          <a:p>
            <a:r>
              <a:rPr lang="en-US" b="0" i="1" dirty="0">
                <a:latin typeface="Arial" panose="020B0604020202020204" pitchFamily="34" charset="0"/>
                <a:cs typeface="Arial" panose="020B0604020202020204" pitchFamily="34" charset="0"/>
              </a:rPr>
              <a:t>Conclusion et perspectives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8E2C1-6913-196D-C81B-A7DE07F4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8" y="1406769"/>
            <a:ext cx="11151180" cy="534150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Conclusions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principales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CNN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léger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(~0,47 M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paramètres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permet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classer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efficacement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les images Fashion-MNIST avec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≈ 92 %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d’accuracy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/ 92 % de Macro-F1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modèle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converge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rapidement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12 époques, ~1,8 min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 et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présente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bonne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stabilité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généralisation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L’ajout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l’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augmentation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données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du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label smoothing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et d’un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scheduler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cosinus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entraîne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légère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baisse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précision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mais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améliore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la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robustesse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et la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calibration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 CNN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proposé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reste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référence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simple et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efficace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pour des jeux de données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d’images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 petite taille.</a:t>
            </a:r>
          </a:p>
          <a:p>
            <a:pPr marL="0" indent="0">
              <a:buNone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Perspectives 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Tester des architectures plus profondes 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mini-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MobileNet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Expérimenter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des techniques de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régularisation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Mixup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Cutout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Explorer le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transfert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d’apprentissage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les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Vision Transformers (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Déployer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une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démo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temps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réel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(interface web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mobile).</a:t>
            </a: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4260849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C0F9-1716-71D8-3F20-3C79867E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076179"/>
            <a:ext cx="10890929" cy="1097280"/>
          </a:xfrm>
        </p:spPr>
        <p:txBody>
          <a:bodyPr/>
          <a:lstStyle/>
          <a:p>
            <a:r>
              <a:rPr lang="en-US" b="0" i="1" dirty="0" err="1">
                <a:latin typeface="Arial" panose="020B0604020202020204" pitchFamily="34" charset="0"/>
                <a:cs typeface="Arial" panose="020B0604020202020204" pitchFamily="34" charset="0"/>
              </a:rPr>
              <a:t>Références</a:t>
            </a:r>
            <a:endParaRPr lang="en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226BB-1640-EFD2-1875-93FF36314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215661"/>
            <a:ext cx="10890928" cy="3566160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LeCun, Y. et al. (1998) –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Gradient-based learning applied to document recognition (LeNet-5)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He, K. et al. (2016) –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Deep Residual Learning for Image Recognition (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ResNet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Dosovitskiy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A. et al. (2020) –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An Image is Worth 16x16 Words (Vision Transformer)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Documentation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 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torchvision.datasets.FashionMNIST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 Kaggle – 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Fashion-MNIST (Zalando Research)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Documentation Scikit-learn – 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Fonctions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métriques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 et </a:t>
            </a:r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évaluation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FR" dirty="0"/>
          </a:p>
        </p:txBody>
      </p:sp>
    </p:spTree>
    <p:extLst>
      <p:ext uri="{BB962C8B-B14F-4D97-AF65-F5344CB8AC3E}">
        <p14:creationId xmlns:p14="http://schemas.microsoft.com/office/powerpoint/2010/main" val="37549557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Words>1032</Words>
  <Application>Microsoft Macintosh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Grandview Display</vt:lpstr>
      <vt:lpstr>Neue Haas Grotesk Text Pro</vt:lpstr>
      <vt:lpstr>DashVTI</vt:lpstr>
      <vt:lpstr>Classification d’images Fashion-MNIST avec un CNN léger </vt:lpstr>
      <vt:lpstr>Problématique et objectifs du projet</vt:lpstr>
      <vt:lpstr>Revue des principales méthodes de classification d’images</vt:lpstr>
      <vt:lpstr>Méthode proposée – Architecture CNN légère</vt:lpstr>
      <vt:lpstr>Implémentation et préparation du jeu de données</vt:lpstr>
      <vt:lpstr>Résultats et évaluation des performances</vt:lpstr>
      <vt:lpstr>Analyse des erreurs et matrice de confusion</vt:lpstr>
      <vt:lpstr>Démo – Inférence du modèle sur des images test</vt:lpstr>
      <vt:lpstr>Conclusion et perspectives</vt:lpstr>
      <vt:lpstr>Références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Tarek</dc:creator>
  <cp:lastModifiedBy>Mohamed Tarek</cp:lastModifiedBy>
  <cp:revision>3</cp:revision>
  <dcterms:created xsi:type="dcterms:W3CDTF">2025-10-25T13:24:42Z</dcterms:created>
  <dcterms:modified xsi:type="dcterms:W3CDTF">2025-10-25T15:36:03Z</dcterms:modified>
</cp:coreProperties>
</file>