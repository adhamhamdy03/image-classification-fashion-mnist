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B793B0-B7EB-B548-B28B-42E1B265B486}" v="114" dt="2025-10-27T20:22:09.0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19"/>
    <p:restoredTop sz="94717"/>
  </p:normalViewPr>
  <p:slideViewPr>
    <p:cSldViewPr snapToGrid="0">
      <p:cViewPr varScale="1">
        <p:scale>
          <a:sx n="86" d="100"/>
          <a:sy n="86" d="100"/>
        </p:scale>
        <p:origin x="224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593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70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02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995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562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731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415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87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327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148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89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88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F7D788E-2C1B-4EF4-8719-12613771F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452"/>
          </a:xfrm>
          <a:prstGeom prst="rect">
            <a:avLst/>
          </a:prstGeom>
          <a:solidFill>
            <a:srgbClr val="4040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2D5602-7C81-3DC5-C124-190FBE20F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4949" y="3499076"/>
            <a:ext cx="6053558" cy="24247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1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Classification d’images Fashion-MNIST avec un CNN léger</a:t>
            </a:r>
            <a:br>
              <a:rPr lang="en-US" sz="41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1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C54E824-C0F4-480B-BC88-689F50C45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6199" y="548"/>
            <a:ext cx="4349752" cy="3142889"/>
          </a:xfrm>
          <a:custGeom>
            <a:avLst/>
            <a:gdLst>
              <a:gd name="connsiteX0" fmla="*/ 229420 w 4349752"/>
              <a:gd name="connsiteY0" fmla="*/ 0 h 3142889"/>
              <a:gd name="connsiteX1" fmla="*/ 4120333 w 4349752"/>
              <a:gd name="connsiteY1" fmla="*/ 0 h 3142889"/>
              <a:gd name="connsiteX2" fmla="*/ 4178840 w 4349752"/>
              <a:gd name="connsiteY2" fmla="*/ 121453 h 3142889"/>
              <a:gd name="connsiteX3" fmla="*/ 4349752 w 4349752"/>
              <a:gd name="connsiteY3" fmla="*/ 968013 h 3142889"/>
              <a:gd name="connsiteX4" fmla="*/ 2174876 w 4349752"/>
              <a:gd name="connsiteY4" fmla="*/ 3142889 h 3142889"/>
              <a:gd name="connsiteX5" fmla="*/ 0 w 4349752"/>
              <a:gd name="connsiteY5" fmla="*/ 968013 h 3142889"/>
              <a:gd name="connsiteX6" fmla="*/ 170913 w 4349752"/>
              <a:gd name="connsiteY6" fmla="*/ 121453 h 3142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9752" h="3142889">
                <a:moveTo>
                  <a:pt x="229420" y="0"/>
                </a:moveTo>
                <a:lnTo>
                  <a:pt x="4120333" y="0"/>
                </a:lnTo>
                <a:lnTo>
                  <a:pt x="4178840" y="121453"/>
                </a:lnTo>
                <a:cubicBezTo>
                  <a:pt x="4288894" y="381652"/>
                  <a:pt x="4349752" y="667725"/>
                  <a:pt x="4349752" y="968013"/>
                </a:cubicBezTo>
                <a:cubicBezTo>
                  <a:pt x="4349752" y="2169164"/>
                  <a:pt x="3376027" y="3142889"/>
                  <a:pt x="2174876" y="3142889"/>
                </a:cubicBezTo>
                <a:cubicBezTo>
                  <a:pt x="973725" y="3142889"/>
                  <a:pt x="0" y="2169164"/>
                  <a:pt x="0" y="968013"/>
                </a:cubicBezTo>
                <a:cubicBezTo>
                  <a:pt x="0" y="667725"/>
                  <a:pt x="60858" y="381652"/>
                  <a:pt x="170913" y="12145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8DEA6A1-FC5C-4E6E-BBBF-7E472949B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3759" y="1421356"/>
            <a:ext cx="4538241" cy="5436644"/>
          </a:xfrm>
          <a:custGeom>
            <a:avLst/>
            <a:gdLst>
              <a:gd name="connsiteX0" fmla="*/ 3084645 w 4538241"/>
              <a:gd name="connsiteY0" fmla="*/ 0 h 5436644"/>
              <a:gd name="connsiteX1" fmla="*/ 4285328 w 4538241"/>
              <a:gd name="connsiteY1" fmla="*/ 242407 h 5436644"/>
              <a:gd name="connsiteX2" fmla="*/ 4538241 w 4538241"/>
              <a:gd name="connsiteY2" fmla="*/ 364242 h 5436644"/>
              <a:gd name="connsiteX3" fmla="*/ 4538241 w 4538241"/>
              <a:gd name="connsiteY3" fmla="*/ 5436644 h 5436644"/>
              <a:gd name="connsiteX4" fmla="*/ 1091428 w 4538241"/>
              <a:gd name="connsiteY4" fmla="*/ 5436644 h 5436644"/>
              <a:gd name="connsiteX5" fmla="*/ 903472 w 4538241"/>
              <a:gd name="connsiteY5" fmla="*/ 5265818 h 5436644"/>
              <a:gd name="connsiteX6" fmla="*/ 0 w 4538241"/>
              <a:gd name="connsiteY6" fmla="*/ 3084645 h 5436644"/>
              <a:gd name="connsiteX7" fmla="*/ 3084645 w 4538241"/>
              <a:gd name="connsiteY7" fmla="*/ 0 h 543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8241" h="5436644">
                <a:moveTo>
                  <a:pt x="3084645" y="0"/>
                </a:moveTo>
                <a:cubicBezTo>
                  <a:pt x="3510546" y="0"/>
                  <a:pt x="3916286" y="86315"/>
                  <a:pt x="4285328" y="242407"/>
                </a:cubicBezTo>
                <a:lnTo>
                  <a:pt x="4538241" y="364242"/>
                </a:lnTo>
                <a:lnTo>
                  <a:pt x="4538241" y="5436644"/>
                </a:lnTo>
                <a:lnTo>
                  <a:pt x="1091428" y="5436644"/>
                </a:lnTo>
                <a:lnTo>
                  <a:pt x="903472" y="5265818"/>
                </a:lnTo>
                <a:cubicBezTo>
                  <a:pt x="345261" y="4707608"/>
                  <a:pt x="0" y="3936446"/>
                  <a:pt x="0" y="3084645"/>
                </a:cubicBezTo>
                <a:cubicBezTo>
                  <a:pt x="0" y="1381043"/>
                  <a:pt x="1381043" y="0"/>
                  <a:pt x="308464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96AAAC3B-1954-46B7-BBAC-27DFF5B5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9395" y="0"/>
            <a:ext cx="4023360" cy="2980240"/>
          </a:xfrm>
          <a:custGeom>
            <a:avLst/>
            <a:gdLst>
              <a:gd name="connsiteX0" fmla="*/ 248676 w 4023360"/>
              <a:gd name="connsiteY0" fmla="*/ 0 h 2980240"/>
              <a:gd name="connsiteX1" fmla="*/ 3774684 w 4023360"/>
              <a:gd name="connsiteY1" fmla="*/ 0 h 2980240"/>
              <a:gd name="connsiteX2" fmla="*/ 3780561 w 4023360"/>
              <a:gd name="connsiteY2" fmla="*/ 9674 h 2980240"/>
              <a:gd name="connsiteX3" fmla="*/ 4023360 w 4023360"/>
              <a:gd name="connsiteY3" fmla="*/ 968560 h 2980240"/>
              <a:gd name="connsiteX4" fmla="*/ 2011680 w 4023360"/>
              <a:gd name="connsiteY4" fmla="*/ 2980240 h 2980240"/>
              <a:gd name="connsiteX5" fmla="*/ 0 w 4023360"/>
              <a:gd name="connsiteY5" fmla="*/ 968560 h 2980240"/>
              <a:gd name="connsiteX6" fmla="*/ 242799 w 4023360"/>
              <a:gd name="connsiteY6" fmla="*/ 9674 h 298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23360" h="2980240">
                <a:moveTo>
                  <a:pt x="248676" y="0"/>
                </a:moveTo>
                <a:lnTo>
                  <a:pt x="3774684" y="0"/>
                </a:lnTo>
                <a:lnTo>
                  <a:pt x="3780561" y="9674"/>
                </a:lnTo>
                <a:cubicBezTo>
                  <a:pt x="3935405" y="294716"/>
                  <a:pt x="4023360" y="621366"/>
                  <a:pt x="4023360" y="968560"/>
                </a:cubicBezTo>
                <a:cubicBezTo>
                  <a:pt x="4023360" y="2079580"/>
                  <a:pt x="3122700" y="2980240"/>
                  <a:pt x="2011680" y="2980240"/>
                </a:cubicBezTo>
                <a:cubicBezTo>
                  <a:pt x="900660" y="2980240"/>
                  <a:pt x="0" y="2079580"/>
                  <a:pt x="0" y="968560"/>
                </a:cubicBezTo>
                <a:cubicBezTo>
                  <a:pt x="0" y="621366"/>
                  <a:pt x="87955" y="294716"/>
                  <a:pt x="242799" y="96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765681-32D8-625B-28EA-D0ED4D33D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161" y="356187"/>
            <a:ext cx="2878409" cy="17922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Étude </a:t>
            </a:r>
            <a:r>
              <a:rPr lang="en-US" sz="2000"/>
              <a:t>d’une</a:t>
            </a:r>
            <a:r>
              <a:rPr lang="en-US" sz="2000" dirty="0"/>
              <a:t> </a:t>
            </a:r>
            <a:r>
              <a:rPr lang="en-US" sz="2000"/>
              <a:t>méthode</a:t>
            </a:r>
            <a:r>
              <a:rPr lang="en-US" sz="2000" dirty="0"/>
              <a:t> de </a:t>
            </a:r>
            <a:r>
              <a:rPr lang="en-US" sz="2000"/>
              <a:t>traitement</a:t>
            </a:r>
            <a:r>
              <a:rPr lang="en-US" sz="2000" dirty="0"/>
              <a:t> </a:t>
            </a:r>
            <a:r>
              <a:rPr lang="en-US" sz="2000"/>
              <a:t>d’image</a:t>
            </a:r>
            <a:r>
              <a:rPr lang="en-US" sz="2000" dirty="0"/>
              <a:t> à </a:t>
            </a:r>
            <a:r>
              <a:rPr lang="en-US" sz="2000"/>
              <a:t>l’état</a:t>
            </a:r>
            <a:r>
              <a:rPr lang="en-US" sz="2000" dirty="0"/>
              <a:t> de </a:t>
            </a:r>
            <a:r>
              <a:rPr lang="en-US" sz="2000"/>
              <a:t>l’art</a:t>
            </a:r>
            <a:r>
              <a:rPr lang="en-US" sz="2000" dirty="0"/>
              <a:t> </a:t>
            </a:r>
            <a:endParaRPr lang="en-US" sz="2000"/>
          </a:p>
        </p:txBody>
      </p:sp>
      <p:sp>
        <p:nvSpPr>
          <p:cNvPr id="14" name="Freeform: Shape 18">
            <a:extLst>
              <a:ext uri="{FF2B5EF4-FFF2-40B4-BE49-F238E27FC236}">
                <a16:creationId xmlns:a16="http://schemas.microsoft.com/office/drawing/2014/main" id="{A5AD6500-BB62-4AAC-9D2F-C10DDC90C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16897" y="1584494"/>
            <a:ext cx="4375105" cy="5273507"/>
          </a:xfrm>
          <a:custGeom>
            <a:avLst/>
            <a:gdLst>
              <a:gd name="connsiteX0" fmla="*/ 2921508 w 4375105"/>
              <a:gd name="connsiteY0" fmla="*/ 0 h 5273507"/>
              <a:gd name="connsiteX1" fmla="*/ 4314072 w 4375105"/>
              <a:gd name="connsiteY1" fmla="*/ 352611 h 5273507"/>
              <a:gd name="connsiteX2" fmla="*/ 4375105 w 4375105"/>
              <a:gd name="connsiteY2" fmla="*/ 389689 h 5273507"/>
              <a:gd name="connsiteX3" fmla="*/ 4375105 w 4375105"/>
              <a:gd name="connsiteY3" fmla="*/ 5273507 h 5273507"/>
              <a:gd name="connsiteX4" fmla="*/ 1193705 w 4375105"/>
              <a:gd name="connsiteY4" fmla="*/ 5273507 h 5273507"/>
              <a:gd name="connsiteX5" fmla="*/ 1063158 w 4375105"/>
              <a:gd name="connsiteY5" fmla="*/ 5175886 h 5273507"/>
              <a:gd name="connsiteX6" fmla="*/ 0 w 4375105"/>
              <a:gd name="connsiteY6" fmla="*/ 2921508 h 5273507"/>
              <a:gd name="connsiteX7" fmla="*/ 2921508 w 4375105"/>
              <a:gd name="connsiteY7" fmla="*/ 0 h 5273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5105" h="5273507">
                <a:moveTo>
                  <a:pt x="2921508" y="0"/>
                </a:moveTo>
                <a:cubicBezTo>
                  <a:pt x="3425728" y="0"/>
                  <a:pt x="3900114" y="127735"/>
                  <a:pt x="4314072" y="352611"/>
                </a:cubicBezTo>
                <a:lnTo>
                  <a:pt x="4375105" y="389689"/>
                </a:lnTo>
                <a:lnTo>
                  <a:pt x="4375105" y="5273507"/>
                </a:lnTo>
                <a:lnTo>
                  <a:pt x="1193705" y="5273507"/>
                </a:lnTo>
                <a:lnTo>
                  <a:pt x="1063158" y="5175886"/>
                </a:lnTo>
                <a:cubicBezTo>
                  <a:pt x="413861" y="4640038"/>
                  <a:pt x="0" y="3829104"/>
                  <a:pt x="0" y="2921508"/>
                </a:cubicBezTo>
                <a:cubicBezTo>
                  <a:pt x="0" y="1308004"/>
                  <a:pt x="1308004" y="0"/>
                  <a:pt x="292150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A04AF2-24AD-55D6-5E45-F61327894052}"/>
              </a:ext>
            </a:extLst>
          </p:cNvPr>
          <p:cNvSpPr txBox="1"/>
          <p:nvPr/>
        </p:nvSpPr>
        <p:spPr>
          <a:xfrm>
            <a:off x="8386139" y="3143438"/>
            <a:ext cx="3474621" cy="2780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Mohammad Abdelazim 21203988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Adham Hamdy 21214342</a:t>
            </a:r>
          </a:p>
        </p:txBody>
      </p:sp>
    </p:spTree>
    <p:extLst>
      <p:ext uri="{BB962C8B-B14F-4D97-AF65-F5344CB8AC3E}">
        <p14:creationId xmlns:p14="http://schemas.microsoft.com/office/powerpoint/2010/main" val="869059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69F1F-5D7A-0DDA-0106-D512BC54B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1" dirty="0" err="1">
                <a:latin typeface="Arial" panose="020B0604020202020204" pitchFamily="34" charset="0"/>
                <a:cs typeface="Arial" panose="020B0604020202020204" pitchFamily="34" charset="0"/>
              </a:rPr>
              <a:t>Problématique</a:t>
            </a:r>
            <a:r>
              <a:rPr lang="en-US" b="0" i="1" dirty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US" b="0" i="1" dirty="0" err="1">
                <a:latin typeface="Arial" panose="020B0604020202020204" pitchFamily="34" charset="0"/>
                <a:cs typeface="Arial" panose="020B0604020202020204" pitchFamily="34" charset="0"/>
              </a:rPr>
              <a:t>objectifs</a:t>
            </a:r>
            <a:r>
              <a:rPr lang="en-US" b="0" i="1" dirty="0"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n-US" b="0" i="1" dirty="0" err="1">
                <a:latin typeface="Arial" panose="020B0604020202020204" pitchFamily="34" charset="0"/>
                <a:cs typeface="Arial" panose="020B0604020202020204" pitchFamily="34" charset="0"/>
              </a:rPr>
              <a:t>projet</a:t>
            </a:r>
            <a:endParaRPr lang="en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27412-F676-1DB5-9AD5-CBB2B0708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378828"/>
            <a:ext cx="10890928" cy="356616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 base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Fashion-MNIST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contient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70 000 images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(28×28 pixels,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niveaux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 gris)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représentant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10 types de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vêtements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L’objectif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concevoir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un 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modèle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léger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et performant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capable de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reconnaître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correctement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catégorie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d’un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vêtement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(T-shirt,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pantalon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robe, sac, etc.).</a:t>
            </a:r>
          </a:p>
          <a:p>
            <a:pPr marL="0" indent="0"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Défis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Classes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visuellement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proches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(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T-shirt vs Chemise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Manteau vs Pull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Contraintes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: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taille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réduite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entraînement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rapide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bonne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généralisation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Mesures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 performance :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Macro-F1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Matrice de confusion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3895313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219D3-D608-61A8-641F-979CD5C8C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0" i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Revue des principales méthodes de classification</a:t>
            </a:r>
            <a:br>
              <a:rPr lang="en-US" sz="3700" b="0" i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700" b="0" i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d’images</a:t>
            </a:r>
            <a:endParaRPr lang="en-US" sz="3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F1D756C-1DC8-142D-625C-F422EDEF03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3157225"/>
              </p:ext>
            </p:extLst>
          </p:nvPr>
        </p:nvGraphicFramePr>
        <p:xfrm>
          <a:off x="494675" y="2053653"/>
          <a:ext cx="6136346" cy="401419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4350">
                  <a:extLst>
                    <a:ext uri="{9D8B030D-6E8A-4147-A177-3AD203B41FA5}">
                      <a16:colId xmlns:a16="http://schemas.microsoft.com/office/drawing/2014/main" val="1095124684"/>
                    </a:ext>
                  </a:extLst>
                </a:gridCol>
                <a:gridCol w="1130936">
                  <a:extLst>
                    <a:ext uri="{9D8B030D-6E8A-4147-A177-3AD203B41FA5}">
                      <a16:colId xmlns:a16="http://schemas.microsoft.com/office/drawing/2014/main" val="1446817528"/>
                    </a:ext>
                  </a:extLst>
                </a:gridCol>
                <a:gridCol w="2443657">
                  <a:extLst>
                    <a:ext uri="{9D8B030D-6E8A-4147-A177-3AD203B41FA5}">
                      <a16:colId xmlns:a16="http://schemas.microsoft.com/office/drawing/2014/main" val="3895519767"/>
                    </a:ext>
                  </a:extLst>
                </a:gridCol>
                <a:gridCol w="1229516">
                  <a:extLst>
                    <a:ext uri="{9D8B030D-6E8A-4147-A177-3AD203B41FA5}">
                      <a16:colId xmlns:a16="http://schemas.microsoft.com/office/drawing/2014/main" val="3192697904"/>
                    </a:ext>
                  </a:extLst>
                </a:gridCol>
                <a:gridCol w="727887">
                  <a:extLst>
                    <a:ext uri="{9D8B030D-6E8A-4147-A177-3AD203B41FA5}">
                      <a16:colId xmlns:a16="http://schemas.microsoft.com/office/drawing/2014/main" val="2955758058"/>
                    </a:ext>
                  </a:extLst>
                </a:gridCol>
              </a:tblGrid>
              <a:tr h="4416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Année</a:t>
                      </a:r>
                    </a:p>
                  </a:txBody>
                  <a:tcPr marL="47596" marR="33997" marT="67994" marB="6799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Méthode</a:t>
                      </a:r>
                    </a:p>
                  </a:txBody>
                  <a:tcPr marL="47596" marR="33997" marT="67994" marB="6799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marL="47596" marR="33997" marT="67994" marB="6799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Jeu de données</a:t>
                      </a:r>
                    </a:p>
                  </a:txBody>
                  <a:tcPr marL="47596" marR="33997" marT="67994" marB="6799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Résultat</a:t>
                      </a:r>
                    </a:p>
                  </a:txBody>
                  <a:tcPr marL="47596" marR="33997" marT="67994" marB="6799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492556"/>
                  </a:ext>
                </a:extLst>
              </a:tr>
              <a:tr h="714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FR" sz="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2019</a:t>
                      </a:r>
                    </a:p>
                  </a:txBody>
                  <a:tcPr marL="47596" marR="33997" marT="17456" marB="679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CNN (Hossain &amp; Sajib)</a:t>
                      </a:r>
                    </a:p>
                  </a:txBody>
                  <a:tcPr marL="47596" marR="33997" marT="17456" marB="679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CNN multicouche (ReLU + MaxPooling + Softmax). Excellente base pour la classification d’images.</a:t>
                      </a:r>
                    </a:p>
                  </a:txBody>
                  <a:tcPr marL="47596" marR="33997" marT="17456" marB="679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CIFAR-10</a:t>
                      </a:r>
                    </a:p>
                  </a:txBody>
                  <a:tcPr marL="47596" marR="33997" marT="17456" marB="679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FR" sz="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~90 %</a:t>
                      </a:r>
                    </a:p>
                  </a:txBody>
                  <a:tcPr marL="47596" marR="33997" marT="17456" marB="679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1084771"/>
                  </a:ext>
                </a:extLst>
              </a:tr>
              <a:tr h="714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FR" sz="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2019</a:t>
                      </a:r>
                    </a:p>
                  </a:txBody>
                  <a:tcPr marL="47596" marR="33997" marT="17456" marB="679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SVM + HOG (Greeshma K V)</a:t>
                      </a:r>
                    </a:p>
                  </a:txBody>
                  <a:tcPr marL="47596" marR="33997" marT="17456" marB="679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Extraction de contours (HOG) suivie d’un SVM multi-classe. Difficile sur classes proches.</a:t>
                      </a:r>
                    </a:p>
                  </a:txBody>
                  <a:tcPr marL="47596" marR="33997" marT="17456" marB="679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Fashion-MNIST</a:t>
                      </a:r>
                    </a:p>
                  </a:txBody>
                  <a:tcPr marL="47596" marR="33997" marT="17456" marB="679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FR" sz="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86.5 %</a:t>
                      </a:r>
                    </a:p>
                  </a:txBody>
                  <a:tcPr marL="47596" marR="33997" marT="17456" marB="679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010494"/>
                  </a:ext>
                </a:extLst>
              </a:tr>
              <a:tr h="714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FR" sz="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2020</a:t>
                      </a:r>
                    </a:p>
                  </a:txBody>
                  <a:tcPr marL="47596" marR="33997" marT="17456" marB="679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KNN</a:t>
                      </a:r>
                    </a:p>
                  </a:txBody>
                  <a:tcPr marL="47596" marR="33997" marT="17456" marB="679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Classification basée sur la distance (K plus proches voisins). Simple mais lent pour grands ensembles.</a:t>
                      </a:r>
                    </a:p>
                  </a:txBody>
                  <a:tcPr marL="47596" marR="33997" marT="17456" marB="679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Fashion-MNIST</a:t>
                      </a:r>
                    </a:p>
                  </a:txBody>
                  <a:tcPr marL="47596" marR="33997" marT="17456" marB="679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FR" sz="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~83–85 %</a:t>
                      </a:r>
                    </a:p>
                  </a:txBody>
                  <a:tcPr marL="47596" marR="33997" marT="17456" marB="679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213735"/>
                  </a:ext>
                </a:extLst>
              </a:tr>
              <a:tr h="714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FR" sz="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2015</a:t>
                      </a:r>
                    </a:p>
                  </a:txBody>
                  <a:tcPr marL="47596" marR="33997" marT="17456" marB="679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ResNet (He et al.)</a:t>
                      </a:r>
                    </a:p>
                  </a:txBody>
                  <a:tcPr marL="47596" marR="33997" marT="17456" marB="679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Réseaux </a:t>
                      </a:r>
                      <a:r>
                        <a:rPr lang="en-US" sz="900" cap="none" spc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profonds</a:t>
                      </a:r>
                      <a:r>
                        <a:rPr lang="en-US" sz="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à </a:t>
                      </a:r>
                      <a:r>
                        <a:rPr lang="en-US" sz="900" i="1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skip connections</a:t>
                      </a:r>
                      <a:r>
                        <a:rPr lang="en-US" sz="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  <a:r>
                        <a:rPr lang="en-US" sz="900" cap="none" spc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Permet</a:t>
                      </a:r>
                      <a:r>
                        <a:rPr lang="en-US" sz="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cap="none" spc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d’entraîner</a:t>
                      </a:r>
                      <a:r>
                        <a:rPr lang="en-US" sz="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des architectures très stables.</a:t>
                      </a:r>
                    </a:p>
                  </a:txBody>
                  <a:tcPr marL="47596" marR="33997" marT="17456" marB="679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Fashion-MNIST</a:t>
                      </a:r>
                    </a:p>
                  </a:txBody>
                  <a:tcPr marL="47596" marR="33997" marT="17456" marB="679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FR" sz="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&gt;95 %</a:t>
                      </a:r>
                    </a:p>
                  </a:txBody>
                  <a:tcPr marL="47596" marR="33997" marT="17456" marB="679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213031"/>
                  </a:ext>
                </a:extLst>
              </a:tr>
              <a:tr h="714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FR" sz="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2022</a:t>
                      </a:r>
                    </a:p>
                  </a:txBody>
                  <a:tcPr marL="47596" marR="33997" marT="17456" marB="679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CNN Hybride (IJST)</a:t>
                      </a:r>
                    </a:p>
                  </a:txBody>
                  <a:tcPr marL="47596" marR="33997" marT="17456" marB="679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Combinaison de plusieurs branches CNN pour améliorer la robustesse et la généralisation.</a:t>
                      </a:r>
                    </a:p>
                  </a:txBody>
                  <a:tcPr marL="47596" marR="33997" marT="17456" marB="679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Fashion-MNIST</a:t>
                      </a:r>
                    </a:p>
                  </a:txBody>
                  <a:tcPr marL="47596" marR="33997" marT="17456" marB="679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FR" sz="900" cap="none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~93–94 %</a:t>
                      </a:r>
                    </a:p>
                  </a:txBody>
                  <a:tcPr marL="47596" marR="33997" marT="17456" marB="679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3853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51084F8-C5A9-69F3-06FF-E5D47C7D06B5}"/>
              </a:ext>
            </a:extLst>
          </p:cNvPr>
          <p:cNvSpPr txBox="1"/>
          <p:nvPr/>
        </p:nvSpPr>
        <p:spPr>
          <a:xfrm>
            <a:off x="7060367" y="1903752"/>
            <a:ext cx="4395512" cy="4356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Les </a:t>
            </a:r>
            <a:r>
              <a:rPr lang="en-US" sz="2000" dirty="0" err="1"/>
              <a:t>approches</a:t>
            </a:r>
            <a:r>
              <a:rPr lang="en-US" sz="2000" dirty="0"/>
              <a:t> </a:t>
            </a:r>
            <a:r>
              <a:rPr lang="en-US" sz="2000" dirty="0" err="1"/>
              <a:t>récentes</a:t>
            </a:r>
            <a:r>
              <a:rPr lang="en-US" sz="2000" dirty="0"/>
              <a:t> </a:t>
            </a:r>
            <a:r>
              <a:rPr lang="en-US" sz="2000" dirty="0" err="1"/>
              <a:t>confirment</a:t>
            </a:r>
            <a:r>
              <a:rPr lang="en-US" sz="2000" dirty="0"/>
              <a:t> la </a:t>
            </a:r>
            <a:r>
              <a:rPr lang="en-US" sz="2000" b="1" dirty="0" err="1"/>
              <a:t>supériorité</a:t>
            </a:r>
            <a:r>
              <a:rPr lang="en-US" sz="2000" b="1" dirty="0"/>
              <a:t> des CNN</a:t>
            </a:r>
            <a:r>
              <a:rPr lang="en-US" sz="2000" dirty="0"/>
              <a:t> sur les </a:t>
            </a:r>
            <a:r>
              <a:rPr lang="en-US" sz="2000" dirty="0" err="1"/>
              <a:t>méthodes</a:t>
            </a:r>
            <a:r>
              <a:rPr lang="en-US" sz="2000" dirty="0"/>
              <a:t> </a:t>
            </a:r>
            <a:r>
              <a:rPr lang="en-US" sz="2000" dirty="0" err="1"/>
              <a:t>classiques</a:t>
            </a:r>
            <a:r>
              <a:rPr lang="en-US" sz="2000" dirty="0"/>
              <a:t> (SVM, KNN) pour les images complexes.</a:t>
            </a:r>
            <a:br>
              <a:rPr lang="en-US" sz="2000" dirty="0"/>
            </a:br>
            <a:r>
              <a:rPr lang="en-US" sz="2000" dirty="0"/>
              <a:t>Les réseaux </a:t>
            </a:r>
            <a:r>
              <a:rPr lang="en-US" sz="2000" dirty="0" err="1"/>
              <a:t>modernes</a:t>
            </a:r>
            <a:r>
              <a:rPr lang="en-US" sz="2000" dirty="0"/>
              <a:t> (</a:t>
            </a:r>
            <a:r>
              <a:rPr lang="en-US" sz="2000" dirty="0" err="1"/>
              <a:t>ResNet</a:t>
            </a:r>
            <a:r>
              <a:rPr lang="en-US" sz="2000" dirty="0"/>
              <a:t>, Hybrid CNN) </a:t>
            </a:r>
            <a:r>
              <a:rPr lang="en-US" sz="2000" dirty="0" err="1"/>
              <a:t>renforcent</a:t>
            </a:r>
            <a:r>
              <a:rPr lang="en-US" sz="2000" dirty="0"/>
              <a:t> la </a:t>
            </a:r>
            <a:r>
              <a:rPr lang="en-US" sz="2000" b="1" dirty="0" err="1"/>
              <a:t>profondeur</a:t>
            </a:r>
            <a:r>
              <a:rPr lang="en-US" sz="2000" dirty="0"/>
              <a:t> et la </a:t>
            </a:r>
            <a:r>
              <a:rPr lang="en-US" sz="2000" b="1" dirty="0" err="1"/>
              <a:t>robustesse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1955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6C791-6C4E-84B7-7E9A-265526E21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>
            <a:normAutofit/>
          </a:bodyPr>
          <a:lstStyle/>
          <a:p>
            <a:r>
              <a:rPr lang="en-US" sz="4000" b="0" i="1">
                <a:latin typeface="Arial" panose="020B0604020202020204" pitchFamily="34" charset="0"/>
                <a:cs typeface="Arial" panose="020B0604020202020204" pitchFamily="34" charset="0"/>
              </a:rPr>
              <a:t>Méthode proposée – Architecture CNN légère</a:t>
            </a:r>
            <a:endParaRPr lang="en-FR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756E0-2632-5654-8547-98C362EB9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0509" y="2357888"/>
            <a:ext cx="4265370" cy="39026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Les compétiteurs sur Fashion-MNIST utilisent des approches similaires :</a:t>
            </a:r>
          </a:p>
          <a:p>
            <a:r>
              <a:rPr lang="en-US" sz="1700" b="1">
                <a:latin typeface="Arial" panose="020B0604020202020204" pitchFamily="34" charset="0"/>
                <a:cs typeface="Arial" panose="020B0604020202020204" pitchFamily="34" charset="0"/>
              </a:rPr>
              <a:t>CNN légers</a:t>
            </a: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 (2–3 couches convolutionnelles)</a:t>
            </a:r>
          </a:p>
          <a:p>
            <a:r>
              <a:rPr lang="en-US" sz="1700" b="1">
                <a:latin typeface="Arial" panose="020B0604020202020204" pitchFamily="34" charset="0"/>
                <a:cs typeface="Arial" panose="020B0604020202020204" pitchFamily="34" charset="0"/>
              </a:rPr>
              <a:t>Méthodes classiques</a:t>
            </a: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 (SVM, KNN) comme références comparatives</a:t>
            </a:r>
          </a:p>
          <a:p>
            <a:r>
              <a:rPr lang="en-US" sz="1700" b="1">
                <a:latin typeface="Arial" panose="020B0604020202020204" pitchFamily="34" charset="0"/>
                <a:cs typeface="Arial" panose="020B0604020202020204" pitchFamily="34" charset="0"/>
              </a:rPr>
              <a:t>Régularisation</a:t>
            </a: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 : Data augmentation, Label Smoothing, Dropout</a:t>
            </a:r>
          </a:p>
          <a:p>
            <a:r>
              <a:rPr lang="en-US" sz="1700" b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 : Adam, scheduler cosinus, early stopping</a:t>
            </a:r>
          </a:p>
          <a:p>
            <a:r>
              <a:rPr lang="en-US" sz="1700" b="1">
                <a:latin typeface="Arial" panose="020B0604020202020204" pitchFamily="34" charset="0"/>
                <a:cs typeface="Arial" panose="020B0604020202020204" pitchFamily="34" charset="0"/>
              </a:rPr>
              <a:t>Hybrid CNN récents (2022)</a:t>
            </a: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 combinant plusieurs branches convolutives.</a:t>
            </a:r>
          </a:p>
          <a:p>
            <a:pPr marL="0" indent="0">
              <a:buNone/>
            </a:pPr>
            <a:endParaRPr lang="en-FR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graph with orange bars&#10;&#10;AI-generated content may be incorrect.">
            <a:extLst>
              <a:ext uri="{FF2B5EF4-FFF2-40B4-BE49-F238E27FC236}">
                <a16:creationId xmlns:a16="http://schemas.microsoft.com/office/drawing/2014/main" id="{058CF397-9EF9-4803-3967-16B62E70A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516" y="2357888"/>
            <a:ext cx="5656166" cy="377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160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96C2E-9D87-2B35-F0CD-32924E55E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0" i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Implémentation et préparation du jeu de données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1A3AC1F-BA03-ABC3-62F5-71AA0BAC65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6918605"/>
              </p:ext>
            </p:extLst>
          </p:nvPr>
        </p:nvGraphicFramePr>
        <p:xfrm>
          <a:off x="736122" y="2751997"/>
          <a:ext cx="5804957" cy="29872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07781">
                  <a:extLst>
                    <a:ext uri="{9D8B030D-6E8A-4147-A177-3AD203B41FA5}">
                      <a16:colId xmlns:a16="http://schemas.microsoft.com/office/drawing/2014/main" val="1649128492"/>
                    </a:ext>
                  </a:extLst>
                </a:gridCol>
                <a:gridCol w="2140789">
                  <a:extLst>
                    <a:ext uri="{9D8B030D-6E8A-4147-A177-3AD203B41FA5}">
                      <a16:colId xmlns:a16="http://schemas.microsoft.com/office/drawing/2014/main" val="2461732716"/>
                    </a:ext>
                  </a:extLst>
                </a:gridCol>
                <a:gridCol w="2156387">
                  <a:extLst>
                    <a:ext uri="{9D8B030D-6E8A-4147-A177-3AD203B41FA5}">
                      <a16:colId xmlns:a16="http://schemas.microsoft.com/office/drawing/2014/main" val="807179975"/>
                    </a:ext>
                  </a:extLst>
                </a:gridCol>
              </a:tblGrid>
              <a:tr h="416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u="none" cap="none" spc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Méthode</a:t>
                      </a:r>
                      <a:endParaRPr lang="en-US" sz="1100" b="1" u="none" cap="none" spc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2304" marR="112304" marT="112304" marB="1123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u="none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Points forts</a:t>
                      </a:r>
                    </a:p>
                  </a:txBody>
                  <a:tcPr marL="112304" marR="112304" marT="112304" marB="1123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u="none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Points </a:t>
                      </a:r>
                      <a:r>
                        <a:rPr lang="en-US" sz="1100" b="1" u="none" cap="none" spc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faibles</a:t>
                      </a:r>
                      <a:endParaRPr lang="en-US" sz="1100" b="1" u="none" cap="none" spc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2304" marR="112304" marT="112304" marB="1123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741564"/>
                  </a:ext>
                </a:extLst>
              </a:tr>
              <a:tr h="5789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KNN</a:t>
                      </a:r>
                      <a:endParaRPr lang="en-US" sz="1100" cap="none" spc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2304" marR="112304" marT="112304" marB="1123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Simple, sans </a:t>
                      </a:r>
                      <a:r>
                        <a:rPr lang="en-US" sz="1100" cap="none" spc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entraînement</a:t>
                      </a:r>
                      <a:endParaRPr lang="en-US" sz="1100" cap="none" spc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2304" marR="112304" marT="112304" marB="1123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Lent, peu </a:t>
                      </a:r>
                      <a:r>
                        <a:rPr lang="en-US" sz="1100" cap="none" spc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robuste</a:t>
                      </a:r>
                      <a:r>
                        <a:rPr lang="en-US" sz="11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sensible au bruit</a:t>
                      </a:r>
                    </a:p>
                  </a:txBody>
                  <a:tcPr marL="112304" marR="112304" marT="112304" marB="1123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075807"/>
                  </a:ext>
                </a:extLst>
              </a:tr>
              <a:tr h="5789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SVM</a:t>
                      </a:r>
                      <a:endParaRPr lang="en-US" sz="1100" cap="none" spc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2304" marR="112304" marT="112304" marB="1123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Bonne </a:t>
                      </a:r>
                      <a:r>
                        <a:rPr lang="en-US" sz="1100" cap="none" spc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généralisation</a:t>
                      </a:r>
                      <a:r>
                        <a:rPr lang="en-US" sz="11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sur petits jeux</a:t>
                      </a:r>
                    </a:p>
                  </a:txBody>
                  <a:tcPr marL="112304" marR="112304" marT="112304" marB="1123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Nécessite features manuelles (HOG)</a:t>
                      </a:r>
                    </a:p>
                  </a:txBody>
                  <a:tcPr marL="112304" marR="112304" marT="112304" marB="1123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557636"/>
                  </a:ext>
                </a:extLst>
              </a:tr>
              <a:tr h="5789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CNN</a:t>
                      </a:r>
                      <a:endParaRPr lang="en-US" sz="1100" cap="none" spc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2304" marR="112304" marT="112304" marB="1123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Apprentissage automatique des features</a:t>
                      </a:r>
                    </a:p>
                  </a:txBody>
                  <a:tcPr marL="112304" marR="112304" marT="112304" marB="1123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Risque de surapprentissage</a:t>
                      </a:r>
                    </a:p>
                  </a:txBody>
                  <a:tcPr marL="112304" marR="112304" marT="112304" marB="1123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059764"/>
                  </a:ext>
                </a:extLst>
              </a:tr>
              <a:tr h="416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ResNet</a:t>
                      </a:r>
                      <a:endParaRPr lang="en-US" sz="1100" cap="none" spc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2304" marR="112304" marT="112304" marB="1123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Très profond, stable</a:t>
                      </a:r>
                    </a:p>
                  </a:txBody>
                  <a:tcPr marL="112304" marR="112304" marT="112304" marB="1123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Coût mémoire plus élevé</a:t>
                      </a:r>
                    </a:p>
                  </a:txBody>
                  <a:tcPr marL="112304" marR="112304" marT="112304" marB="1123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174537"/>
                  </a:ext>
                </a:extLst>
              </a:tr>
              <a:tr h="416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Hybrid CNN (2022)</a:t>
                      </a:r>
                      <a:endParaRPr lang="en-US" sz="1100" cap="none" spc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2304" marR="112304" marT="112304" marB="1123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Bonne </a:t>
                      </a:r>
                      <a:r>
                        <a:rPr lang="en-US" sz="1100" cap="none" spc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robustesse</a:t>
                      </a:r>
                      <a:r>
                        <a:rPr lang="en-US" sz="11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</a:t>
                      </a:r>
                      <a:r>
                        <a:rPr lang="en-US" sz="1100" cap="none" spc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précision</a:t>
                      </a:r>
                      <a:endParaRPr lang="en-US" sz="1100" cap="none" spc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2304" marR="112304" marT="112304" marB="1123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Architecture </a:t>
                      </a:r>
                      <a:r>
                        <a:rPr lang="en-US" sz="1100" cap="none" spc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complexe</a:t>
                      </a:r>
                      <a:r>
                        <a:rPr lang="en-US" sz="11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à </a:t>
                      </a:r>
                      <a:r>
                        <a:rPr lang="en-US" sz="1100" cap="none" spc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régler</a:t>
                      </a:r>
                      <a:endParaRPr lang="en-US" sz="1100" cap="none" spc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2304" marR="112304" marT="112304" marB="1123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0956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C614A77-5287-D0E2-ADE7-054330C44B1B}"/>
              </a:ext>
            </a:extLst>
          </p:cNvPr>
          <p:cNvSpPr txBox="1"/>
          <p:nvPr/>
        </p:nvSpPr>
        <p:spPr>
          <a:xfrm>
            <a:off x="7190509" y="2357888"/>
            <a:ext cx="4265370" cy="39026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Les modèles à base de </a:t>
            </a:r>
            <a:r>
              <a:rPr lang="en-US" sz="2000" b="1"/>
              <a:t>CNN restent les plus efficaces</a:t>
            </a:r>
            <a:r>
              <a:rPr lang="en-US" sz="2000"/>
              <a:t> pour Fashion-MNIST.</a:t>
            </a:r>
            <a:br>
              <a:rPr lang="en-US" sz="2000"/>
            </a:br>
            <a:r>
              <a:rPr lang="en-US" sz="2000"/>
              <a:t>L’objectif du projet est donc d’implémenter un </a:t>
            </a:r>
            <a:r>
              <a:rPr lang="en-US" sz="2000" b="1"/>
              <a:t>CNN léger</a:t>
            </a:r>
            <a:r>
              <a:rPr lang="en-US" sz="2000"/>
              <a:t> amélioré par </a:t>
            </a:r>
            <a:r>
              <a:rPr lang="en-US" sz="2000" b="1"/>
              <a:t>régularisation moderne</a:t>
            </a:r>
            <a:r>
              <a:rPr lang="en-US" sz="2000"/>
              <a:t> (augmentation, label smoothing, scheduler).</a:t>
            </a:r>
          </a:p>
        </p:txBody>
      </p:sp>
    </p:spTree>
    <p:extLst>
      <p:ext uri="{BB962C8B-B14F-4D97-AF65-F5344CB8AC3E}">
        <p14:creationId xmlns:p14="http://schemas.microsoft.com/office/powerpoint/2010/main" val="3276083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EFD131-908D-42BB-1532-9DDC6031B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284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Suggestion d’une méthode nouvelle </a:t>
            </a:r>
            <a:endParaRPr lang="en-US" sz="5200" b="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493D8C-271A-BB76-1920-2DBE3F87E3F6}"/>
              </a:ext>
            </a:extLst>
          </p:cNvPr>
          <p:cNvSpPr txBox="1"/>
          <p:nvPr/>
        </p:nvSpPr>
        <p:spPr>
          <a:xfrm>
            <a:off x="838199" y="1828799"/>
            <a:ext cx="10794167" cy="46640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 err="1"/>
              <a:t>Méthode</a:t>
            </a:r>
            <a:r>
              <a:rPr lang="en-US" sz="2000" dirty="0"/>
              <a:t> </a:t>
            </a:r>
            <a:r>
              <a:rPr lang="en-US" sz="2000" dirty="0" err="1"/>
              <a:t>récente</a:t>
            </a:r>
            <a:r>
              <a:rPr lang="en-US" sz="2000" dirty="0"/>
              <a:t> </a:t>
            </a:r>
            <a:r>
              <a:rPr lang="en-US" sz="2000" dirty="0" err="1"/>
              <a:t>proposée</a:t>
            </a:r>
            <a:r>
              <a:rPr lang="en-US" sz="2000" dirty="0"/>
              <a:t> : </a:t>
            </a:r>
            <a:r>
              <a:rPr lang="en-US" b="1" dirty="0"/>
              <a:t>Hybrid CNN (IJST )</a:t>
            </a:r>
            <a:r>
              <a:rPr lang="en-US" sz="2000" b="1" dirty="0"/>
              <a:t>(2022)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b="1" dirty="0"/>
              <a:t>Principe </a:t>
            </a:r>
            <a:r>
              <a:rPr lang="en-US" b="1" dirty="0" err="1"/>
              <a:t>général</a:t>
            </a:r>
            <a:r>
              <a:rPr lang="en-US" b="1" dirty="0"/>
              <a:t> :</a:t>
            </a:r>
            <a:endParaRPr lang="en-US" dirty="0"/>
          </a:p>
          <a:p>
            <a:r>
              <a:rPr lang="en-US" dirty="0"/>
              <a:t>-</a:t>
            </a:r>
            <a:r>
              <a:rPr lang="en-US" dirty="0" err="1"/>
              <a:t>Inspirée</a:t>
            </a:r>
            <a:r>
              <a:rPr lang="en-US" dirty="0"/>
              <a:t> du CNN </a:t>
            </a:r>
            <a:r>
              <a:rPr lang="en-US" dirty="0" err="1"/>
              <a:t>classique</a:t>
            </a:r>
            <a:r>
              <a:rPr lang="en-US" dirty="0"/>
              <a:t>,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intègre</a:t>
            </a:r>
            <a:r>
              <a:rPr lang="en-US" dirty="0"/>
              <a:t> </a:t>
            </a:r>
            <a:r>
              <a:rPr lang="en-US" b="1" dirty="0" err="1"/>
              <a:t>plusieurs</a:t>
            </a:r>
            <a:r>
              <a:rPr lang="en-US" b="1" dirty="0"/>
              <a:t> branches </a:t>
            </a:r>
            <a:r>
              <a:rPr lang="en-US" b="1" dirty="0" err="1"/>
              <a:t>convolutionnelles</a:t>
            </a:r>
            <a:r>
              <a:rPr lang="en-US" b="1" dirty="0"/>
              <a:t> </a:t>
            </a:r>
            <a:r>
              <a:rPr lang="en-US" b="1" dirty="0" err="1"/>
              <a:t>parallèles</a:t>
            </a:r>
            <a:r>
              <a:rPr lang="en-US" dirty="0"/>
              <a:t>.</a:t>
            </a:r>
          </a:p>
          <a:p>
            <a:r>
              <a:rPr lang="en-US" dirty="0"/>
              <a:t>-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branche</a:t>
            </a:r>
            <a:r>
              <a:rPr lang="en-US" dirty="0"/>
              <a:t> extrait des </a:t>
            </a:r>
            <a:r>
              <a:rPr lang="en-US" b="1" dirty="0" err="1"/>
              <a:t>caractéristiques</a:t>
            </a:r>
            <a:r>
              <a:rPr lang="en-US" b="1" dirty="0"/>
              <a:t> </a:t>
            </a:r>
            <a:r>
              <a:rPr lang="en-US" b="1" dirty="0" err="1"/>
              <a:t>différentes</a:t>
            </a:r>
            <a:r>
              <a:rPr lang="en-US" dirty="0"/>
              <a:t> (textures fines, contours, </a:t>
            </a:r>
            <a:r>
              <a:rPr lang="en-US" dirty="0" err="1"/>
              <a:t>formes</a:t>
            </a:r>
            <a:r>
              <a:rPr lang="en-US" dirty="0"/>
              <a:t> </a:t>
            </a:r>
            <a:r>
              <a:rPr lang="en-US" dirty="0" err="1"/>
              <a:t>globales</a:t>
            </a:r>
            <a:r>
              <a:rPr lang="en-US" dirty="0"/>
              <a:t>).</a:t>
            </a:r>
          </a:p>
          <a:p>
            <a:r>
              <a:rPr lang="en-US" dirty="0"/>
              <a:t>-Les sorties de </a:t>
            </a:r>
            <a:r>
              <a:rPr lang="en-US" dirty="0" err="1"/>
              <a:t>ces</a:t>
            </a:r>
            <a:r>
              <a:rPr lang="en-US" dirty="0"/>
              <a:t> branches </a:t>
            </a:r>
            <a:r>
              <a:rPr lang="en-US" dirty="0" err="1"/>
              <a:t>sont</a:t>
            </a:r>
            <a:r>
              <a:rPr lang="en-US" dirty="0"/>
              <a:t> </a:t>
            </a:r>
            <a:r>
              <a:rPr lang="en-US" b="1" dirty="0" err="1"/>
              <a:t>fusionnées</a:t>
            </a:r>
            <a:r>
              <a:rPr lang="en-US" dirty="0"/>
              <a:t> </a:t>
            </a:r>
            <a:r>
              <a:rPr lang="en-US" dirty="0" err="1"/>
              <a:t>avant</a:t>
            </a:r>
            <a:r>
              <a:rPr lang="en-US" dirty="0"/>
              <a:t> la classification finale.</a:t>
            </a:r>
          </a:p>
          <a:p>
            <a:endParaRPr lang="en-US" b="1" dirty="0"/>
          </a:p>
          <a:p>
            <a:r>
              <a:rPr lang="en-US" b="1" dirty="0"/>
              <a:t>Objectif :</a:t>
            </a:r>
            <a:endParaRPr lang="en-US" dirty="0"/>
          </a:p>
          <a:p>
            <a:r>
              <a:rPr lang="en-US" dirty="0"/>
              <a:t>-</a:t>
            </a:r>
            <a:r>
              <a:rPr lang="en-US" dirty="0" err="1"/>
              <a:t>Améliorer</a:t>
            </a:r>
            <a:r>
              <a:rPr lang="en-US" dirty="0"/>
              <a:t> la </a:t>
            </a:r>
            <a:r>
              <a:rPr lang="en-US" b="1" dirty="0" err="1"/>
              <a:t>robustesse</a:t>
            </a:r>
            <a:r>
              <a:rPr lang="en-US" dirty="0"/>
              <a:t> et la </a:t>
            </a:r>
            <a:r>
              <a:rPr lang="en-US" b="1" dirty="0" err="1"/>
              <a:t>généralisation</a:t>
            </a:r>
            <a:r>
              <a:rPr lang="en-US" dirty="0"/>
              <a:t> sur les jeux </a:t>
            </a:r>
            <a:r>
              <a:rPr lang="en-US" dirty="0" err="1"/>
              <a:t>d’images</a:t>
            </a:r>
            <a:r>
              <a:rPr lang="en-US" dirty="0"/>
              <a:t> complexes (ex. Fashion-MNIST).</a:t>
            </a:r>
          </a:p>
          <a:p>
            <a:r>
              <a:rPr lang="en-US" dirty="0"/>
              <a:t>-</a:t>
            </a:r>
            <a:r>
              <a:rPr lang="en-US" dirty="0" err="1"/>
              <a:t>Réduire</a:t>
            </a:r>
            <a:r>
              <a:rPr lang="en-US" dirty="0"/>
              <a:t> la </a:t>
            </a:r>
            <a:r>
              <a:rPr lang="en-US" dirty="0" err="1"/>
              <a:t>perte</a:t>
            </a:r>
            <a:r>
              <a:rPr lang="en-US" dirty="0"/>
              <a:t> </a:t>
            </a:r>
            <a:r>
              <a:rPr lang="en-US" dirty="0" err="1"/>
              <a:t>d’information</a:t>
            </a:r>
            <a:r>
              <a:rPr lang="en-US" dirty="0"/>
              <a:t> </a:t>
            </a:r>
            <a:r>
              <a:rPr lang="en-US" dirty="0" err="1"/>
              <a:t>liée</a:t>
            </a:r>
            <a:r>
              <a:rPr lang="en-US" dirty="0"/>
              <a:t> à </a:t>
            </a:r>
            <a:r>
              <a:rPr lang="en-US" dirty="0" err="1"/>
              <a:t>l’utilisation</a:t>
            </a:r>
            <a:r>
              <a:rPr lang="en-US" dirty="0"/>
              <a:t> d’un seul flux </a:t>
            </a:r>
            <a:r>
              <a:rPr lang="en-US" dirty="0" err="1"/>
              <a:t>convolutionnel</a:t>
            </a:r>
            <a:r>
              <a:rPr lang="en-US" dirty="0"/>
              <a:t>.</a:t>
            </a:r>
          </a:p>
          <a:p>
            <a:r>
              <a:rPr lang="en-US" dirty="0"/>
              <a:t>-</a:t>
            </a:r>
            <a:r>
              <a:rPr lang="en-US" dirty="0" err="1"/>
              <a:t>Tirer</a:t>
            </a:r>
            <a:r>
              <a:rPr lang="en-US" dirty="0"/>
              <a:t> parti de </a:t>
            </a:r>
            <a:r>
              <a:rPr lang="en-US" b="1" dirty="0" err="1"/>
              <a:t>profils</a:t>
            </a:r>
            <a:r>
              <a:rPr lang="en-US" b="1" dirty="0"/>
              <a:t> de </a:t>
            </a:r>
            <a:r>
              <a:rPr lang="en-US" b="1" dirty="0" err="1"/>
              <a:t>filtres</a:t>
            </a:r>
            <a:r>
              <a:rPr lang="en-US" b="1" dirty="0"/>
              <a:t> </a:t>
            </a:r>
            <a:r>
              <a:rPr lang="en-US" b="1" dirty="0" err="1"/>
              <a:t>variés</a:t>
            </a:r>
            <a:r>
              <a:rPr lang="en-US" dirty="0"/>
              <a:t> (petits et grands </a:t>
            </a:r>
            <a:r>
              <a:rPr lang="en-US" dirty="0" err="1"/>
              <a:t>noyaux</a:t>
            </a:r>
            <a:r>
              <a:rPr lang="en-US" dirty="0"/>
              <a:t>) pour capturer </a:t>
            </a:r>
            <a:r>
              <a:rPr lang="en-US" dirty="0" err="1"/>
              <a:t>plusieurs</a:t>
            </a:r>
            <a:r>
              <a:rPr lang="en-US" dirty="0"/>
              <a:t> </a:t>
            </a:r>
            <a:r>
              <a:rPr lang="en-US" dirty="0" err="1"/>
              <a:t>échelles</a:t>
            </a:r>
            <a:r>
              <a:rPr lang="en-US" dirty="0"/>
              <a:t> </a:t>
            </a:r>
            <a:r>
              <a:rPr lang="en-US" dirty="0" err="1"/>
              <a:t>spatiales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b="1" dirty="0" err="1"/>
              <a:t>Résultats</a:t>
            </a:r>
            <a:r>
              <a:rPr lang="en-US" b="1" dirty="0"/>
              <a:t> </a:t>
            </a:r>
            <a:r>
              <a:rPr lang="en-US" b="1" dirty="0" err="1"/>
              <a:t>observés</a:t>
            </a:r>
            <a:r>
              <a:rPr lang="en-US" b="1" dirty="0"/>
              <a:t> (dans </a:t>
            </a:r>
            <a:r>
              <a:rPr lang="en-US" b="1" dirty="0" err="1"/>
              <a:t>l’article</a:t>
            </a:r>
            <a:r>
              <a:rPr lang="en-US" b="1" dirty="0"/>
              <a:t> IJST 2022)</a:t>
            </a:r>
            <a:r>
              <a:rPr lang="en-US" dirty="0"/>
              <a:t> :</a:t>
            </a:r>
          </a:p>
          <a:p>
            <a:r>
              <a:rPr lang="en-US" dirty="0"/>
              <a:t>-</a:t>
            </a:r>
            <a:r>
              <a:rPr lang="en-US" dirty="0" err="1"/>
              <a:t>Meilleure</a:t>
            </a:r>
            <a:r>
              <a:rPr lang="en-US" dirty="0"/>
              <a:t> </a:t>
            </a:r>
            <a:r>
              <a:rPr lang="en-US" b="1" dirty="0"/>
              <a:t>accuracy </a:t>
            </a:r>
            <a:r>
              <a:rPr lang="en-US" b="1" dirty="0" err="1"/>
              <a:t>globale</a:t>
            </a:r>
            <a:r>
              <a:rPr lang="en-US" dirty="0"/>
              <a:t> que les CNN standards.</a:t>
            </a:r>
          </a:p>
          <a:p>
            <a:endParaRPr lang="en-US" b="1" dirty="0"/>
          </a:p>
          <a:p>
            <a:r>
              <a:rPr lang="en-US" b="1" dirty="0" err="1"/>
              <a:t>Réduction</a:t>
            </a:r>
            <a:r>
              <a:rPr lang="en-US" b="1" dirty="0"/>
              <a:t> du sur-</a:t>
            </a:r>
            <a:r>
              <a:rPr lang="en-US" b="1" dirty="0" err="1"/>
              <a:t>apprentissage</a:t>
            </a:r>
            <a:r>
              <a:rPr lang="en-US" dirty="0"/>
              <a:t> grâce à la </a:t>
            </a:r>
            <a:r>
              <a:rPr lang="en-US" dirty="0" err="1"/>
              <a:t>diversité</a:t>
            </a:r>
            <a:r>
              <a:rPr lang="en-US" dirty="0"/>
              <a:t> des chemins de convolution.</a:t>
            </a:r>
          </a:p>
          <a:p>
            <a:r>
              <a:rPr lang="en-US" dirty="0"/>
              <a:t>-Performances stables </a:t>
            </a:r>
            <a:r>
              <a:rPr lang="en-US" dirty="0" err="1"/>
              <a:t>même</a:t>
            </a:r>
            <a:r>
              <a:rPr lang="en-US" dirty="0"/>
              <a:t> avec un dataset de taille </a:t>
            </a:r>
            <a:r>
              <a:rPr lang="en-US" dirty="0" err="1"/>
              <a:t>moyenne</a:t>
            </a:r>
            <a:r>
              <a:rPr lang="en-US" dirty="0"/>
              <a:t> (</a:t>
            </a:r>
            <a:r>
              <a:rPr lang="en-US" dirty="0" err="1"/>
              <a:t>comme</a:t>
            </a:r>
            <a:r>
              <a:rPr lang="en-US" dirty="0"/>
              <a:t> Fashion-MNIST).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59247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380997" y="381001"/>
            <a:ext cx="6858001" cy="6095995"/>
          </a:xfrm>
          <a:prstGeom prst="rect">
            <a:avLst/>
          </a:prstGeom>
          <a:ln>
            <a:noFill/>
          </a:ln>
          <a:effectLst>
            <a:outerShdw blurRad="381000" dist="101600" sx="99000" sy="99000" algn="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D76D52-D8E2-FADE-E3EC-A20414C0F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944" y="691912"/>
            <a:ext cx="4792635" cy="1811645"/>
          </a:xfrm>
        </p:spPr>
        <p:txBody>
          <a:bodyPr anchor="ctr">
            <a:normAutofit/>
          </a:bodyPr>
          <a:lstStyle/>
          <a:p>
            <a:r>
              <a:rPr lang="en-US" sz="4000" b="0" i="1" dirty="0" err="1">
                <a:latin typeface="Arial" panose="020B0604020202020204" pitchFamily="34" charset="0"/>
                <a:cs typeface="Arial" panose="020B0604020202020204" pitchFamily="34" charset="0"/>
              </a:rPr>
              <a:t>Élaboration</a:t>
            </a:r>
            <a:r>
              <a:rPr lang="en-US" sz="4000" b="0" i="1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4000" b="0" i="1" dirty="0" err="1">
                <a:latin typeface="Arial" panose="020B0604020202020204" pitchFamily="34" charset="0"/>
                <a:cs typeface="Arial" panose="020B0604020202020204" pitchFamily="34" charset="0"/>
              </a:rPr>
              <a:t>l’algorithme</a:t>
            </a:r>
            <a:r>
              <a:rPr lang="en-US" sz="4000" b="0" i="1" dirty="0">
                <a:latin typeface="Arial" panose="020B0604020202020204" pitchFamily="34" charset="0"/>
                <a:cs typeface="Arial" panose="020B0604020202020204" pitchFamily="34" charset="0"/>
              </a:rPr>
              <a:t> (Baseline CNN)</a:t>
            </a:r>
            <a:endParaRPr lang="en-FR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diagram of a shoe&#10;&#10;AI-generated content may be incorrect.">
            <a:extLst>
              <a:ext uri="{FF2B5EF4-FFF2-40B4-BE49-F238E27FC236}">
                <a16:creationId xmlns:a16="http://schemas.microsoft.com/office/drawing/2014/main" id="{0D698C13-4532-E46D-A259-39F40A233A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1" r="-1" b="-1"/>
          <a:stretch>
            <a:fillRect/>
          </a:stretch>
        </p:blipFill>
        <p:spPr>
          <a:xfrm>
            <a:off x="2" y="2743210"/>
            <a:ext cx="6096001" cy="4114790"/>
          </a:xfrm>
          <a:prstGeom prst="rect">
            <a:avLst/>
          </a:prstGeom>
        </p:spPr>
      </p:pic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AE773EB5-7586-12CD-EE2A-D312A5D00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10" y="691912"/>
            <a:ext cx="4585646" cy="547417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Description :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L’algorithme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implémenté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repose sur un 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réseau de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neurones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convolutionnel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léger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 pour la classification des 10 classes de Fashion-MNIST.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Il suit la structure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classique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[Convolution →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→ Pooling → FC →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Étapes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principales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Chargement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normalisation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des images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ToTensor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+ Normalize).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Architecture CNN :</a:t>
            </a:r>
          </a:p>
          <a:p>
            <a:pPr lvl="1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 blocs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convolutionnels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(Conv2d +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MaxPool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 couches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entièrement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connectées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(Linear + Dropout)</a:t>
            </a: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Fonction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perte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CrossEntropyLoss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Optimiseur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: Adam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= 1e-3)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Scheduler :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CosineAnnealingLR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Tmax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= 12)</a:t>
            </a: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Entraînement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: 12 époques, batch = 128</a:t>
            </a: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Sauvegarde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meilleur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modèle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(.pt) +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génération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des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métriques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(.csv, .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FR" sz="1400" dirty="0"/>
          </a:p>
        </p:txBody>
      </p:sp>
    </p:spTree>
    <p:extLst>
      <p:ext uri="{BB962C8B-B14F-4D97-AF65-F5344CB8AC3E}">
        <p14:creationId xmlns:p14="http://schemas.microsoft.com/office/powerpoint/2010/main" val="1436460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2A414-08FA-BBAC-F65E-8197D90E4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871" y="450574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b="0" i="1" dirty="0">
                <a:latin typeface="Arial" panose="020B0604020202020204" pitchFamily="34" charset="0"/>
                <a:cs typeface="Arial" panose="020B0604020202020204" pitchFamily="34" charset="0"/>
              </a:rPr>
              <a:t>Mise </a:t>
            </a:r>
            <a:r>
              <a:rPr lang="en-US" b="0" i="1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b="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1" dirty="0" err="1">
                <a:latin typeface="Arial" panose="020B0604020202020204" pitchFamily="34" charset="0"/>
                <a:cs typeface="Arial" panose="020B0604020202020204" pitchFamily="34" charset="0"/>
              </a:rPr>
              <a:t>œuvre</a:t>
            </a:r>
            <a:r>
              <a:rPr lang="en-US" b="0" i="1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b="0" i="1" dirty="0" err="1">
                <a:latin typeface="Arial" panose="020B0604020202020204" pitchFamily="34" charset="0"/>
                <a:cs typeface="Arial" panose="020B0604020202020204" pitchFamily="34" charset="0"/>
              </a:rPr>
              <a:t>méthode</a:t>
            </a:r>
            <a:r>
              <a:rPr lang="en-US" b="0" i="1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b="0" i="1" dirty="0" err="1">
                <a:latin typeface="Arial" panose="020B0604020202020204" pitchFamily="34" charset="0"/>
                <a:cs typeface="Arial" panose="020B0604020202020204" pitchFamily="34" charset="0"/>
              </a:rPr>
              <a:t>Prototypage</a:t>
            </a:r>
            <a:r>
              <a:rPr lang="en-US" b="0" i="1" dirty="0">
                <a:latin typeface="Arial" panose="020B0604020202020204" pitchFamily="34" charset="0"/>
                <a:cs typeface="Arial" panose="020B0604020202020204" pitchFamily="34" charset="0"/>
              </a:rPr>
              <a:t> Python (</a:t>
            </a:r>
            <a:r>
              <a:rPr lang="en-US" b="0" i="1" dirty="0" err="1"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r>
              <a:rPr lang="en-US" b="0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A0748-F95E-EECE-864A-EF4B16493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35" y="1865382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Langage</a:t>
            </a:r>
            <a:r>
              <a:rPr lang="en-US" dirty="0"/>
              <a:t> : </a:t>
            </a:r>
            <a:r>
              <a:rPr lang="en-US" b="1" dirty="0"/>
              <a:t>Python 3.11</a:t>
            </a:r>
            <a:endParaRPr lang="en-US" dirty="0"/>
          </a:p>
          <a:p>
            <a:r>
              <a:rPr lang="en-US" dirty="0"/>
              <a:t>Frameworks : </a:t>
            </a:r>
            <a:r>
              <a:rPr lang="en-US" b="1" dirty="0" err="1"/>
              <a:t>PyTorch</a:t>
            </a:r>
            <a:r>
              <a:rPr lang="en-US" dirty="0"/>
              <a:t>, </a:t>
            </a:r>
            <a:r>
              <a:rPr lang="en-US" b="1" dirty="0" err="1"/>
              <a:t>Torchvision</a:t>
            </a:r>
            <a:r>
              <a:rPr lang="en-US" dirty="0"/>
              <a:t>, </a:t>
            </a:r>
            <a:r>
              <a:rPr lang="en-US" b="1" dirty="0"/>
              <a:t>Scikit-learn</a:t>
            </a:r>
            <a:endParaRPr lang="en-US" dirty="0"/>
          </a:p>
          <a:p>
            <a:r>
              <a:rPr lang="en-US" dirty="0"/>
              <a:t>Environnement : </a:t>
            </a:r>
            <a:r>
              <a:rPr lang="en-US" b="1" dirty="0"/>
              <a:t>macOS + Apple MPS</a:t>
            </a:r>
            <a:r>
              <a:rPr lang="en-US" dirty="0"/>
              <a:t> (GPU </a:t>
            </a:r>
            <a:r>
              <a:rPr lang="en-US" dirty="0" err="1"/>
              <a:t>intégré</a:t>
            </a:r>
            <a:r>
              <a:rPr lang="en-US" dirty="0"/>
              <a:t>)</a:t>
            </a:r>
          </a:p>
          <a:p>
            <a:r>
              <a:rPr lang="en-US" dirty="0"/>
              <a:t>Scripts :</a:t>
            </a:r>
          </a:p>
          <a:p>
            <a:r>
              <a:rPr lang="en-US" dirty="0"/>
              <a:t>code/</a:t>
            </a:r>
            <a:r>
              <a:rPr lang="en-US" dirty="0" err="1"/>
              <a:t>cnn_baseline.py</a:t>
            </a:r>
            <a:r>
              <a:rPr lang="en-US" dirty="0"/>
              <a:t> – </a:t>
            </a:r>
            <a:r>
              <a:rPr lang="en-US" dirty="0" err="1"/>
              <a:t>entraînement</a:t>
            </a:r>
            <a:endParaRPr lang="en-US" dirty="0"/>
          </a:p>
          <a:p>
            <a:r>
              <a:rPr lang="en-US" dirty="0"/>
              <a:t>code/</a:t>
            </a:r>
            <a:r>
              <a:rPr lang="en-US" dirty="0" err="1"/>
              <a:t>inference.py</a:t>
            </a:r>
            <a:r>
              <a:rPr lang="en-US" dirty="0"/>
              <a:t> – </a:t>
            </a:r>
            <a:r>
              <a:rPr lang="en-US" dirty="0" err="1"/>
              <a:t>prédictions</a:t>
            </a:r>
            <a:r>
              <a:rPr lang="en-US" dirty="0"/>
              <a:t> et </a:t>
            </a:r>
            <a:r>
              <a:rPr lang="en-US" dirty="0" err="1"/>
              <a:t>visualisation</a:t>
            </a:r>
            <a:endParaRPr lang="en-US" dirty="0"/>
          </a:p>
          <a:p>
            <a:r>
              <a:rPr lang="en-US" dirty="0" err="1"/>
              <a:t>Fichiers</a:t>
            </a:r>
            <a:r>
              <a:rPr lang="en-US" dirty="0"/>
              <a:t> </a:t>
            </a:r>
            <a:r>
              <a:rPr lang="en-US" dirty="0" err="1"/>
              <a:t>produits</a:t>
            </a:r>
            <a:r>
              <a:rPr lang="en-US" dirty="0"/>
              <a:t> :</a:t>
            </a:r>
          </a:p>
          <a:p>
            <a:r>
              <a:rPr lang="en-US" dirty="0" err="1"/>
              <a:t>metrics_baseline.csv</a:t>
            </a:r>
            <a:r>
              <a:rPr lang="en-US" dirty="0"/>
              <a:t> → </a:t>
            </a:r>
            <a:r>
              <a:rPr lang="en-US" dirty="0" err="1"/>
              <a:t>suivi</a:t>
            </a:r>
            <a:r>
              <a:rPr lang="en-US" dirty="0"/>
              <a:t> de </a:t>
            </a:r>
            <a:r>
              <a:rPr lang="en-US" dirty="0" err="1"/>
              <a:t>l’apprentissage</a:t>
            </a:r>
            <a:endParaRPr lang="en-US" dirty="0"/>
          </a:p>
          <a:p>
            <a:r>
              <a:rPr lang="en-US" dirty="0" err="1"/>
              <a:t>curve_acc.png</a:t>
            </a:r>
            <a:r>
              <a:rPr lang="en-US" dirty="0"/>
              <a:t>, </a:t>
            </a:r>
            <a:r>
              <a:rPr lang="en-US" dirty="0" err="1"/>
              <a:t>curve_loss.png</a:t>
            </a:r>
            <a:r>
              <a:rPr lang="en-US" dirty="0"/>
              <a:t>, </a:t>
            </a:r>
            <a:r>
              <a:rPr lang="en-US" dirty="0" err="1"/>
              <a:t>cm_baseline.png</a:t>
            </a:r>
            <a:endParaRPr lang="en-US" dirty="0"/>
          </a:p>
          <a:p>
            <a:r>
              <a:rPr lang="en-US" dirty="0"/>
              <a:t>Durée </a:t>
            </a:r>
            <a:r>
              <a:rPr lang="en-US" dirty="0" err="1"/>
              <a:t>d’entraînement</a:t>
            </a:r>
            <a:r>
              <a:rPr lang="en-US" dirty="0"/>
              <a:t> : </a:t>
            </a:r>
            <a:r>
              <a:rPr lang="en-US" b="1" dirty="0"/>
              <a:t>~1,8 min / 12 époques</a:t>
            </a:r>
            <a:endParaRPr lang="en-US" dirty="0"/>
          </a:p>
          <a:p>
            <a:r>
              <a:rPr lang="en-US" dirty="0" err="1"/>
              <a:t>Paramètres</a:t>
            </a:r>
            <a:r>
              <a:rPr lang="en-US" dirty="0"/>
              <a:t> du </a:t>
            </a:r>
            <a:r>
              <a:rPr lang="en-US" dirty="0" err="1"/>
              <a:t>modèle</a:t>
            </a:r>
            <a:r>
              <a:rPr lang="en-US" dirty="0"/>
              <a:t> : </a:t>
            </a:r>
            <a:r>
              <a:rPr lang="en-US" b="1" dirty="0"/>
              <a:t>467 818 (~0,47 M)</a:t>
            </a:r>
            <a:endParaRPr lang="en-US" dirty="0"/>
          </a:p>
          <a:p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56779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E9BFB-DEF5-2A53-898E-A8A7AE06F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9728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Test et </a:t>
            </a:r>
            <a:r>
              <a:rPr lang="en-US" i="1" dirty="0" err="1"/>
              <a:t>évaluation</a:t>
            </a:r>
            <a:r>
              <a:rPr lang="en-US" i="1" dirty="0"/>
              <a:t> du </a:t>
            </a:r>
            <a:r>
              <a:rPr lang="en-US" i="1" dirty="0" err="1"/>
              <a:t>modèle</a:t>
            </a:r>
            <a:r>
              <a:rPr lang="en-US" i="1" dirty="0"/>
              <a:t> sur Fashion-MNIST</a:t>
            </a:r>
            <a:endParaRPr lang="en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6A57AF9-114C-A88C-19D4-E2155EDBA0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1062194"/>
              </p:ext>
            </p:extLst>
          </p:nvPr>
        </p:nvGraphicFramePr>
        <p:xfrm>
          <a:off x="247132" y="1352847"/>
          <a:ext cx="10515600" cy="73152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41380565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17546008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0807263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00449572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41551260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77182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Expérience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Macro-F1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Époques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Paramètres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Temps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2324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Baseline CNN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FR" b="1"/>
                        <a:t>0.9219</a:t>
                      </a:r>
                      <a:endParaRPr lang="en-F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FR" b="1"/>
                        <a:t>0.9215</a:t>
                      </a:r>
                      <a:endParaRPr lang="en-F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FR"/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0.47 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~1.8 min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52413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FA0AC2B-DA1A-5AB1-AE79-CFA52F64C794}"/>
              </a:ext>
            </a:extLst>
          </p:cNvPr>
          <p:cNvSpPr txBox="1"/>
          <p:nvPr/>
        </p:nvSpPr>
        <p:spPr>
          <a:xfrm>
            <a:off x="98288" y="2230206"/>
            <a:ext cx="376361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 CNN de base </a:t>
            </a:r>
            <a:r>
              <a:rPr lang="en-US" dirty="0" err="1"/>
              <a:t>atteint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 </a:t>
            </a:r>
            <a:r>
              <a:rPr lang="en-US" b="1" dirty="0"/>
              <a:t>bonne </a:t>
            </a:r>
            <a:r>
              <a:rPr lang="en-US" b="1" dirty="0" err="1"/>
              <a:t>stabilité</a:t>
            </a:r>
            <a:r>
              <a:rPr lang="en-US" dirty="0"/>
              <a:t> et </a:t>
            </a:r>
            <a:r>
              <a:rPr lang="en-US" dirty="0" err="1"/>
              <a:t>une</a:t>
            </a:r>
            <a:r>
              <a:rPr lang="en-US" dirty="0"/>
              <a:t> </a:t>
            </a:r>
            <a:r>
              <a:rPr lang="en-US" b="1" dirty="0" err="1"/>
              <a:t>précision</a:t>
            </a:r>
            <a:r>
              <a:rPr lang="en-US" b="1" dirty="0"/>
              <a:t> ≈ 92 %</a:t>
            </a:r>
            <a:r>
              <a:rPr lang="en-US" dirty="0"/>
              <a:t>.</a:t>
            </a:r>
          </a:p>
          <a:p>
            <a:r>
              <a:rPr lang="en-US" dirty="0"/>
              <a:t>Les </a:t>
            </a:r>
            <a:r>
              <a:rPr lang="en-US" dirty="0" err="1"/>
              <a:t>ajouts</a:t>
            </a:r>
            <a:r>
              <a:rPr lang="en-US" dirty="0"/>
              <a:t> (</a:t>
            </a:r>
            <a:r>
              <a:rPr lang="en-US" i="1" dirty="0"/>
              <a:t>augmentation, label smoothing, scheduler </a:t>
            </a:r>
            <a:r>
              <a:rPr lang="en-US" i="1" dirty="0" err="1"/>
              <a:t>cosinus</a:t>
            </a:r>
            <a:r>
              <a:rPr lang="en-US" dirty="0"/>
              <a:t>) </a:t>
            </a:r>
            <a:r>
              <a:rPr lang="en-US" b="1" dirty="0" err="1"/>
              <a:t>stabilisent</a:t>
            </a:r>
            <a:r>
              <a:rPr lang="en-US" b="1" dirty="0"/>
              <a:t> </a:t>
            </a:r>
            <a:r>
              <a:rPr lang="en-US" b="1" dirty="0" err="1"/>
              <a:t>davantage</a:t>
            </a:r>
            <a:r>
              <a:rPr lang="en-US" b="1" dirty="0"/>
              <a:t> </a:t>
            </a:r>
            <a:r>
              <a:rPr lang="en-US" b="1" dirty="0" err="1"/>
              <a:t>l’apprentissage</a:t>
            </a:r>
            <a:r>
              <a:rPr lang="en-US" dirty="0"/>
              <a:t> 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peuvent</a:t>
            </a:r>
            <a:r>
              <a:rPr lang="en-US" dirty="0"/>
              <a:t> </a:t>
            </a:r>
            <a:r>
              <a:rPr lang="en-US" dirty="0" err="1"/>
              <a:t>légèrement</a:t>
            </a:r>
            <a:r>
              <a:rPr lang="en-US" dirty="0"/>
              <a:t> </a:t>
            </a:r>
            <a:r>
              <a:rPr lang="en-US" dirty="0" err="1"/>
              <a:t>réduire</a:t>
            </a:r>
            <a:r>
              <a:rPr lang="en-US" dirty="0"/>
              <a:t> </a:t>
            </a:r>
            <a:r>
              <a:rPr lang="en-US" dirty="0" err="1"/>
              <a:t>l’accuracy</a:t>
            </a:r>
            <a:r>
              <a:rPr lang="en-US" dirty="0"/>
              <a:t> brute.</a:t>
            </a:r>
          </a:p>
          <a:p>
            <a:r>
              <a:rPr lang="en-US" dirty="0" err="1"/>
              <a:t>Ces</a:t>
            </a:r>
            <a:r>
              <a:rPr lang="en-US" dirty="0"/>
              <a:t> </a:t>
            </a:r>
            <a:r>
              <a:rPr lang="en-US" dirty="0" err="1"/>
              <a:t>résultats</a:t>
            </a:r>
            <a:r>
              <a:rPr lang="en-US" dirty="0"/>
              <a:t> </a:t>
            </a:r>
            <a:r>
              <a:rPr lang="en-US" dirty="0" err="1"/>
              <a:t>confirment</a:t>
            </a:r>
            <a:r>
              <a:rPr lang="en-US" dirty="0"/>
              <a:t> la </a:t>
            </a:r>
            <a:r>
              <a:rPr lang="en-US" b="1" dirty="0" err="1"/>
              <a:t>supériorité</a:t>
            </a:r>
            <a:r>
              <a:rPr lang="en-US" b="1" dirty="0"/>
              <a:t> des CNN</a:t>
            </a:r>
            <a:r>
              <a:rPr lang="en-US" dirty="0"/>
              <a:t> par rapport aux SVM et KNN.</a:t>
            </a:r>
          </a:p>
          <a:p>
            <a:endParaRPr lang="en-FR" dirty="0"/>
          </a:p>
        </p:txBody>
      </p:sp>
      <p:pic>
        <p:nvPicPr>
          <p:cNvPr id="7" name="Picture 6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A5901F91-8C34-E1EA-EBBF-0256BAC8F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235" y="2322695"/>
            <a:ext cx="2596367" cy="1947275"/>
          </a:xfrm>
          <a:prstGeom prst="rect">
            <a:avLst/>
          </a:prstGeom>
        </p:spPr>
      </p:pic>
      <p:pic>
        <p:nvPicPr>
          <p:cNvPr id="9" name="Picture 8" descr="A graph with a line&#10;&#10;AI-generated content may be incorrect.">
            <a:extLst>
              <a:ext uri="{FF2B5EF4-FFF2-40B4-BE49-F238E27FC236}">
                <a16:creationId xmlns:a16="http://schemas.microsoft.com/office/drawing/2014/main" id="{A4F2678C-EFDE-1794-0B69-F6088025C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728" y="2291677"/>
            <a:ext cx="2637724" cy="1978293"/>
          </a:xfrm>
          <a:prstGeom prst="rect">
            <a:avLst/>
          </a:prstGeom>
        </p:spPr>
      </p:pic>
      <p:pic>
        <p:nvPicPr>
          <p:cNvPr id="11" name="Picture 10" descr="A graph with a line&#10;&#10;AI-generated content may be incorrect.">
            <a:extLst>
              <a:ext uri="{FF2B5EF4-FFF2-40B4-BE49-F238E27FC236}">
                <a16:creationId xmlns:a16="http://schemas.microsoft.com/office/drawing/2014/main" id="{2CCC7BEF-CB53-6E99-C23C-CD96A036F1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782" y="2297473"/>
            <a:ext cx="2678328" cy="2008746"/>
          </a:xfrm>
          <a:prstGeom prst="rect">
            <a:avLst/>
          </a:prstGeom>
        </p:spPr>
      </p:pic>
      <p:pic>
        <p:nvPicPr>
          <p:cNvPr id="13" name="Picture 12" descr="A graph of a graph&#10;&#10;AI-generated content may be incorrect.">
            <a:extLst>
              <a:ext uri="{FF2B5EF4-FFF2-40B4-BE49-F238E27FC236}">
                <a16:creationId xmlns:a16="http://schemas.microsoft.com/office/drawing/2014/main" id="{7EE13C9B-D522-BF54-3E82-BA13E8736C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4114" y="4331442"/>
            <a:ext cx="2788477" cy="2475868"/>
          </a:xfrm>
          <a:prstGeom prst="rect">
            <a:avLst/>
          </a:prstGeom>
        </p:spPr>
      </p:pic>
      <p:pic>
        <p:nvPicPr>
          <p:cNvPr id="15" name="Picture 14" descr="A collage of different clothing items&#10;&#10;AI-generated content may be incorrect.">
            <a:extLst>
              <a:ext uri="{FF2B5EF4-FFF2-40B4-BE49-F238E27FC236}">
                <a16:creationId xmlns:a16="http://schemas.microsoft.com/office/drawing/2014/main" id="{E6839C54-586B-97FA-6A3E-7CF3196F02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0727" y="4164098"/>
            <a:ext cx="2584174" cy="258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849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nt">
            <a:extLst>
              <a:ext uri="{FF2B5EF4-FFF2-40B4-BE49-F238E27FC236}">
                <a16:creationId xmlns:a16="http://schemas.microsoft.com/office/drawing/2014/main" id="{FB62F605-0D29-07F8-F642-DD2626C78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0"/>
            <a:ext cx="12193117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C22F3F7-C4F6-C120-9D45-79509746A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0"/>
            <a:ext cx="11417531" cy="6858000"/>
          </a:xfrm>
          <a:prstGeom prst="rect">
            <a:avLst/>
          </a:prstGeom>
          <a:ln>
            <a:noFill/>
          </a:ln>
          <a:effectLst>
            <a:outerShdw blurRad="317500" dist="127000" dir="2400000" sx="95000" sy="95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D3C0F9-1716-71D8-3F20-3C79867E9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62001"/>
            <a:ext cx="9589765" cy="1699942"/>
          </a:xfrm>
        </p:spPr>
        <p:txBody>
          <a:bodyPr>
            <a:normAutofit/>
          </a:bodyPr>
          <a:lstStyle/>
          <a:p>
            <a:r>
              <a:rPr lang="en-US" sz="4000" dirty="0"/>
              <a:t>Conclusions et perspectives</a:t>
            </a:r>
            <a:endParaRPr lang="en-FR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226BB-1640-EFD2-1875-93FF36314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2470243"/>
            <a:ext cx="9590349" cy="376983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b="1" dirty="0"/>
              <a:t>Conclusions :</a:t>
            </a:r>
            <a:endParaRPr lang="en-US" sz="1700" dirty="0"/>
          </a:p>
          <a:p>
            <a:r>
              <a:rPr lang="en-US" sz="1700" dirty="0"/>
              <a:t>Le </a:t>
            </a:r>
            <a:r>
              <a:rPr lang="en-US" sz="1700" dirty="0" err="1"/>
              <a:t>modèle</a:t>
            </a:r>
            <a:r>
              <a:rPr lang="en-US" sz="1700" dirty="0"/>
              <a:t> </a:t>
            </a:r>
            <a:r>
              <a:rPr lang="en-US" sz="1700" b="1" dirty="0"/>
              <a:t>CNN </a:t>
            </a:r>
            <a:r>
              <a:rPr lang="en-US" sz="1700" b="1" dirty="0" err="1"/>
              <a:t>léger</a:t>
            </a:r>
            <a:r>
              <a:rPr lang="en-US" sz="1700" dirty="0"/>
              <a:t> </a:t>
            </a:r>
            <a:r>
              <a:rPr lang="en-US" sz="1700" dirty="0" err="1"/>
              <a:t>obtient</a:t>
            </a:r>
            <a:r>
              <a:rPr lang="en-US" sz="1700" dirty="0"/>
              <a:t> </a:t>
            </a:r>
            <a:r>
              <a:rPr lang="en-US" sz="1700" b="1" dirty="0"/>
              <a:t>≈ 92 % </a:t>
            </a:r>
            <a:r>
              <a:rPr lang="en-US" sz="1700" b="1" dirty="0" err="1"/>
              <a:t>d’accuracy</a:t>
            </a:r>
            <a:r>
              <a:rPr lang="en-US" sz="1700" b="1" dirty="0"/>
              <a:t> / 92 % de Macro-F1</a:t>
            </a:r>
            <a:r>
              <a:rPr lang="en-US" sz="1700" dirty="0"/>
              <a:t>.</a:t>
            </a:r>
          </a:p>
          <a:p>
            <a:r>
              <a:rPr lang="en-US" sz="1700" dirty="0" err="1"/>
              <a:t>L’approche</a:t>
            </a:r>
            <a:r>
              <a:rPr lang="en-US" sz="1700" dirty="0"/>
              <a:t> </a:t>
            </a:r>
            <a:r>
              <a:rPr lang="en-US" sz="1700" dirty="0" err="1"/>
              <a:t>est</a:t>
            </a:r>
            <a:r>
              <a:rPr lang="en-US" sz="1700" dirty="0"/>
              <a:t> </a:t>
            </a:r>
            <a:r>
              <a:rPr lang="en-US" sz="1700" b="1" dirty="0" err="1"/>
              <a:t>rapide</a:t>
            </a:r>
            <a:r>
              <a:rPr lang="en-US" sz="1700" b="1" dirty="0"/>
              <a:t>, </a:t>
            </a:r>
            <a:r>
              <a:rPr lang="en-US" sz="1700" b="1" dirty="0" err="1"/>
              <a:t>compacte</a:t>
            </a:r>
            <a:r>
              <a:rPr lang="en-US" sz="1700" b="1" dirty="0"/>
              <a:t> et reproductible</a:t>
            </a:r>
            <a:r>
              <a:rPr lang="en-US" sz="1700" dirty="0"/>
              <a:t>.</a:t>
            </a:r>
          </a:p>
          <a:p>
            <a:r>
              <a:rPr lang="en-US" sz="1700" dirty="0"/>
              <a:t>Les techniques de </a:t>
            </a:r>
            <a:r>
              <a:rPr lang="en-US" sz="1700" dirty="0" err="1"/>
              <a:t>régularisation</a:t>
            </a:r>
            <a:r>
              <a:rPr lang="en-US" sz="1700" dirty="0"/>
              <a:t> </a:t>
            </a:r>
            <a:r>
              <a:rPr lang="en-US" sz="1700" dirty="0" err="1"/>
              <a:t>améliorent</a:t>
            </a:r>
            <a:r>
              <a:rPr lang="en-US" sz="1700" dirty="0"/>
              <a:t> la </a:t>
            </a:r>
            <a:r>
              <a:rPr lang="en-US" sz="1700" b="1" dirty="0" err="1"/>
              <a:t>stabilité</a:t>
            </a:r>
            <a:r>
              <a:rPr lang="en-US" sz="1700" dirty="0"/>
              <a:t> et la </a:t>
            </a:r>
            <a:r>
              <a:rPr lang="en-US" sz="1700" b="1" dirty="0" err="1"/>
              <a:t>robustesse</a:t>
            </a:r>
            <a:r>
              <a:rPr lang="en-US" sz="1700" dirty="0"/>
              <a:t>.</a:t>
            </a:r>
          </a:p>
          <a:p>
            <a:pPr marL="0" indent="0">
              <a:buNone/>
            </a:pPr>
            <a:endParaRPr lang="en-US" sz="1700" b="1" dirty="0"/>
          </a:p>
          <a:p>
            <a:pPr marL="0" indent="0">
              <a:buNone/>
            </a:pPr>
            <a:r>
              <a:rPr lang="en-US" sz="1700" b="1" dirty="0"/>
              <a:t>Perspectives :</a:t>
            </a:r>
            <a:endParaRPr lang="en-US" sz="1700" dirty="0"/>
          </a:p>
          <a:p>
            <a:r>
              <a:rPr lang="en-US" sz="1700" dirty="0"/>
              <a:t>Explorer des </a:t>
            </a:r>
            <a:r>
              <a:rPr lang="en-US" sz="1700" b="1" dirty="0" err="1"/>
              <a:t>méthodes</a:t>
            </a:r>
            <a:r>
              <a:rPr lang="en-US" sz="1700" b="1" dirty="0"/>
              <a:t> de </a:t>
            </a:r>
            <a:r>
              <a:rPr lang="en-US" sz="1700" b="1" dirty="0" err="1"/>
              <a:t>régularisation</a:t>
            </a:r>
            <a:r>
              <a:rPr lang="en-US" sz="1700" b="1" dirty="0"/>
              <a:t> </a:t>
            </a:r>
            <a:r>
              <a:rPr lang="en-US" sz="1700" b="1" dirty="0" err="1"/>
              <a:t>avancées</a:t>
            </a:r>
            <a:r>
              <a:rPr lang="en-US" sz="1700" dirty="0"/>
              <a:t> : </a:t>
            </a:r>
            <a:r>
              <a:rPr lang="en-US" sz="1700" i="1" dirty="0" err="1"/>
              <a:t>Mixup</a:t>
            </a:r>
            <a:r>
              <a:rPr lang="en-US" sz="1700" i="1" dirty="0"/>
              <a:t>, Cutout, TTA</a:t>
            </a:r>
            <a:r>
              <a:rPr lang="en-US" sz="1700" dirty="0"/>
              <a:t>.</a:t>
            </a:r>
          </a:p>
          <a:p>
            <a:r>
              <a:rPr lang="en-US" sz="1700" dirty="0" err="1"/>
              <a:t>Étendre</a:t>
            </a:r>
            <a:r>
              <a:rPr lang="en-US" sz="1700" dirty="0"/>
              <a:t> les tests à des </a:t>
            </a:r>
            <a:r>
              <a:rPr lang="en-US" sz="1700" b="1" dirty="0"/>
              <a:t>datasets plus complexes</a:t>
            </a:r>
            <a:r>
              <a:rPr lang="en-US" sz="1700" dirty="0"/>
              <a:t> (CIFAR-10, Tiny-ImageNet).</a:t>
            </a:r>
          </a:p>
          <a:p>
            <a:r>
              <a:rPr lang="en-US" sz="1700" dirty="0"/>
              <a:t>Envisager </a:t>
            </a:r>
            <a:r>
              <a:rPr lang="en-US" sz="1700" dirty="0" err="1"/>
              <a:t>une</a:t>
            </a:r>
            <a:r>
              <a:rPr lang="en-US" sz="1700" dirty="0"/>
              <a:t> </a:t>
            </a:r>
            <a:r>
              <a:rPr lang="en-US" sz="1700" b="1" dirty="0" err="1"/>
              <a:t>intégration</a:t>
            </a:r>
            <a:r>
              <a:rPr lang="en-US" sz="1700" b="1" dirty="0"/>
              <a:t> temps </a:t>
            </a:r>
            <a:r>
              <a:rPr lang="en-US" sz="1700" b="1" dirty="0" err="1"/>
              <a:t>réel</a:t>
            </a:r>
            <a:r>
              <a:rPr lang="en-US" sz="1700" dirty="0"/>
              <a:t> (web/app, quantization).</a:t>
            </a:r>
          </a:p>
          <a:p>
            <a:endParaRPr lang="en-FR" sz="1700" dirty="0"/>
          </a:p>
        </p:txBody>
      </p:sp>
    </p:spTree>
    <p:extLst>
      <p:ext uri="{BB962C8B-B14F-4D97-AF65-F5344CB8AC3E}">
        <p14:creationId xmlns:p14="http://schemas.microsoft.com/office/powerpoint/2010/main" val="3754955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0A593-DFF5-5BEC-DFDB-19E9BA51D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377" y="-204501"/>
            <a:ext cx="10515600" cy="1325563"/>
          </a:xfrm>
        </p:spPr>
        <p:txBody>
          <a:bodyPr/>
          <a:lstStyle/>
          <a:p>
            <a:r>
              <a:rPr lang="en-US" dirty="0" err="1"/>
              <a:t>Références</a:t>
            </a:r>
            <a:r>
              <a:rPr lang="en-US" dirty="0"/>
              <a:t> </a:t>
            </a:r>
            <a:endParaRPr lang="en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63251-7DB4-992F-97CE-97443CA03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774" y="869430"/>
            <a:ext cx="11009026" cy="530753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Jeu de données:</a:t>
            </a:r>
            <a:endParaRPr lang="en-US" dirty="0"/>
          </a:p>
          <a:p>
            <a:r>
              <a:rPr lang="en-US" dirty="0"/>
              <a:t>Xiao, H., Rasul, K., &amp; </a:t>
            </a:r>
            <a:r>
              <a:rPr lang="en-US" dirty="0" err="1"/>
              <a:t>Vollgraf</a:t>
            </a:r>
            <a:r>
              <a:rPr lang="en-US" dirty="0"/>
              <a:t>, R. (2017). </a:t>
            </a:r>
            <a:r>
              <a:rPr lang="en-US" i="1" dirty="0"/>
              <a:t>Fashion-MNIST: a Novel Image Dataset for Benchmarking Machine Learning Algorithms.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 err="1"/>
              <a:t>Méthodes</a:t>
            </a:r>
            <a:r>
              <a:rPr lang="en-US" b="1" dirty="0"/>
              <a:t> </a:t>
            </a:r>
            <a:r>
              <a:rPr lang="en-US" b="1" dirty="0" err="1"/>
              <a:t>fondatrices</a:t>
            </a:r>
            <a:endParaRPr lang="en-US" dirty="0"/>
          </a:p>
          <a:p>
            <a:r>
              <a:rPr lang="en-US" dirty="0"/>
              <a:t>LeCun, Y. et al. (1998). </a:t>
            </a:r>
            <a:r>
              <a:rPr lang="en-US" i="1" dirty="0"/>
              <a:t>Gradient-based Learning Applied to Document Recognition (LeNet-5).</a:t>
            </a:r>
            <a:endParaRPr lang="en-US" dirty="0"/>
          </a:p>
          <a:p>
            <a:r>
              <a:rPr lang="en-US" dirty="0"/>
              <a:t>He, K., Zhang, X., Ren, S., &amp; Sun, J. (2016). </a:t>
            </a:r>
            <a:r>
              <a:rPr lang="en-US" i="1" dirty="0"/>
              <a:t>Deep Residual Learning for Image Recognition (</a:t>
            </a:r>
            <a:r>
              <a:rPr lang="en-US" i="1" dirty="0" err="1"/>
              <a:t>ResNet</a:t>
            </a:r>
            <a:r>
              <a:rPr lang="en-US" i="1" dirty="0"/>
              <a:t>).</a:t>
            </a:r>
            <a:endParaRPr lang="en-US" dirty="0"/>
          </a:p>
          <a:p>
            <a:r>
              <a:rPr lang="en-US" dirty="0" err="1"/>
              <a:t>Dosovitskiy</a:t>
            </a:r>
            <a:r>
              <a:rPr lang="en-US" dirty="0"/>
              <a:t>, A. et al. (2020). </a:t>
            </a:r>
            <a:r>
              <a:rPr lang="en-US" i="1" dirty="0"/>
              <a:t>An Image is Worth 16x16 Words: Transformers for Image Recognition (</a:t>
            </a:r>
            <a:r>
              <a:rPr lang="en-US" i="1" dirty="0" err="1"/>
              <a:t>ViT</a:t>
            </a:r>
            <a:r>
              <a:rPr lang="en-US" i="1" dirty="0"/>
              <a:t>).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Articles:</a:t>
            </a:r>
            <a:endParaRPr lang="en-US" dirty="0"/>
          </a:p>
          <a:p>
            <a:r>
              <a:rPr lang="en-US" i="1" dirty="0"/>
              <a:t>Classification of Image using Convolutional Neural Network (CNN).</a:t>
            </a:r>
            <a:r>
              <a:rPr lang="en-US" dirty="0"/>
              <a:t> (pdf </a:t>
            </a:r>
            <a:r>
              <a:rPr lang="en-US" dirty="0" err="1"/>
              <a:t>fourni</a:t>
            </a:r>
            <a:r>
              <a:rPr lang="en-US" dirty="0"/>
              <a:t>)</a:t>
            </a:r>
          </a:p>
          <a:p>
            <a:r>
              <a:rPr lang="en-US" i="1" dirty="0"/>
              <a:t>SVM</a:t>
            </a:r>
            <a:r>
              <a:rPr lang="en-US" dirty="0"/>
              <a:t> (HOG+SVM sur Fashion-MNIST). (pdf </a:t>
            </a:r>
            <a:r>
              <a:rPr lang="en-US" dirty="0" err="1"/>
              <a:t>fourni</a:t>
            </a:r>
            <a:r>
              <a:rPr lang="en-US" dirty="0"/>
              <a:t>)</a:t>
            </a:r>
          </a:p>
          <a:p>
            <a:r>
              <a:rPr lang="en-US" i="1" dirty="0"/>
              <a:t>KNN</a:t>
            </a:r>
            <a:r>
              <a:rPr lang="en-US" dirty="0"/>
              <a:t> (baseline sur Fashion-MNIST). (pdf </a:t>
            </a:r>
            <a:r>
              <a:rPr lang="en-US" dirty="0" err="1"/>
              <a:t>fourni</a:t>
            </a:r>
            <a:r>
              <a:rPr lang="en-US" dirty="0"/>
              <a:t>)</a:t>
            </a:r>
          </a:p>
          <a:p>
            <a:r>
              <a:rPr lang="en-US" i="1" dirty="0"/>
              <a:t>Hybrid CNN</a:t>
            </a:r>
            <a:r>
              <a:rPr lang="en-US" dirty="0"/>
              <a:t> (IJST-2022-1821). (pdf </a:t>
            </a:r>
            <a:r>
              <a:rPr lang="en-US" dirty="0" err="1"/>
              <a:t>fourni</a:t>
            </a:r>
            <a:r>
              <a:rPr lang="en-US" dirty="0"/>
              <a:t>)</a:t>
            </a:r>
          </a:p>
          <a:p>
            <a:r>
              <a:rPr lang="en-US" i="1" dirty="0" err="1"/>
              <a:t>ResNet</a:t>
            </a:r>
            <a:r>
              <a:rPr lang="en-US" dirty="0"/>
              <a:t> (pdf </a:t>
            </a:r>
            <a:r>
              <a:rPr lang="en-US" dirty="0" err="1"/>
              <a:t>fourni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Outils</a:t>
            </a:r>
            <a:r>
              <a:rPr lang="en-US" b="1" dirty="0"/>
              <a:t>:</a:t>
            </a:r>
            <a:endParaRPr lang="en-US" dirty="0"/>
          </a:p>
          <a:p>
            <a:r>
              <a:rPr lang="en-US" b="1" dirty="0" err="1"/>
              <a:t>PyTorch</a:t>
            </a:r>
            <a:r>
              <a:rPr lang="en-US" dirty="0"/>
              <a:t> (torch, </a:t>
            </a:r>
            <a:r>
              <a:rPr lang="en-US" dirty="0" err="1"/>
              <a:t>torchvision</a:t>
            </a:r>
            <a:r>
              <a:rPr lang="en-US" dirty="0"/>
              <a:t>) — documentation.</a:t>
            </a:r>
          </a:p>
          <a:p>
            <a:r>
              <a:rPr lang="en-US" b="1" dirty="0"/>
              <a:t>scikit-learn</a:t>
            </a:r>
            <a:r>
              <a:rPr lang="en-US" dirty="0"/>
              <a:t> — </a:t>
            </a:r>
            <a:r>
              <a:rPr lang="en-US" dirty="0" err="1"/>
              <a:t>métriques</a:t>
            </a:r>
            <a:r>
              <a:rPr lang="en-US" dirty="0"/>
              <a:t> (accuracy, f1-macro, confusion matrix).</a:t>
            </a:r>
          </a:p>
          <a:p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55211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366</TotalTime>
  <Words>1175</Words>
  <Application>Microsoft Macintosh PowerPoint</Application>
  <PresentationFormat>Widescreen</PresentationFormat>
  <Paragraphs>158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Classification d’images Fashion-MNIST avec un CNN léger </vt:lpstr>
      <vt:lpstr>Problématique et objectifs du projet</vt:lpstr>
      <vt:lpstr>Revue des principales méthodes de classification d’images</vt:lpstr>
      <vt:lpstr>Méthode proposée – Architecture CNN légère</vt:lpstr>
      <vt:lpstr>Implémentation et préparation du jeu de données</vt:lpstr>
      <vt:lpstr>Suggestion d’une méthode nouvelle </vt:lpstr>
      <vt:lpstr>Élaboration de l’algorithme (Baseline CNN)</vt:lpstr>
      <vt:lpstr>Mise en œuvre de la méthode – Prototypage Python (PyTorch)</vt:lpstr>
      <vt:lpstr>Test et évaluation du modèle sur Fashion-MNIST</vt:lpstr>
      <vt:lpstr>Conclusions et perspectives</vt:lpstr>
      <vt:lpstr>Références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Tarek</dc:creator>
  <cp:lastModifiedBy>Mohamed Tarek</cp:lastModifiedBy>
  <cp:revision>6</cp:revision>
  <dcterms:created xsi:type="dcterms:W3CDTF">2025-10-25T13:24:42Z</dcterms:created>
  <dcterms:modified xsi:type="dcterms:W3CDTF">2025-10-27T20:26:15Z</dcterms:modified>
</cp:coreProperties>
</file>